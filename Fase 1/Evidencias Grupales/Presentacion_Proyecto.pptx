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Pragmatica Bold" charset="1" panose="020B0703040502020204"/>
      <p:regular r:id="rId18"/>
    </p:embeddedFont>
    <p:embeddedFont>
      <p:font typeface="TT Interphases" charset="1" panose="02000503020000020004"/>
      <p:regular r:id="rId19"/>
    </p:embeddedFont>
    <p:embeddedFont>
      <p:font typeface="Pragmatica" charset="1" panose="020B0503040502020204"/>
      <p:regular r:id="rId20"/>
    </p:embeddedFont>
    <p:embeddedFont>
      <p:font typeface="TT Interphases Bold" charset="1" panose="02000803060000020004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Relationship Id="rId5" Target="../media/image4.png" Type="http://schemas.openxmlformats.org/officeDocument/2006/relationships/image"/><Relationship Id="rId6" Target="../media/image5.svg" Type="http://schemas.openxmlformats.org/officeDocument/2006/relationships/image"/><Relationship Id="rId7" Target="../media/image6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7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8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png" Type="http://schemas.openxmlformats.org/officeDocument/2006/relationships/image"/><Relationship Id="rId3" Target="../media/image11.pn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Relationship Id="rId4" Target="../media/image12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4.png" Type="http://schemas.openxmlformats.org/officeDocument/2006/relationships/image"/><Relationship Id="rId4" Target="../media/image15.png" Type="http://schemas.openxmlformats.org/officeDocument/2006/relationships/image"/><Relationship Id="rId5" Target="../media/image16.png" Type="http://schemas.openxmlformats.org/officeDocument/2006/relationships/image"/><Relationship Id="rId6" Target="../media/image17.png" Type="http://schemas.openxmlformats.org/officeDocument/2006/relationships/image"/><Relationship Id="rId7" Target="../media/image18.png" Type="http://schemas.openxmlformats.org/officeDocument/2006/relationships/image"/><Relationship Id="rId8" Target="../media/image2.png" Type="http://schemas.openxmlformats.org/officeDocument/2006/relationships/image"/><Relationship Id="rId9" Target="../media/image3.sv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9.png" Type="http://schemas.openxmlformats.org/officeDocument/2006/relationships/image"/><Relationship Id="rId3" Target="../media/image2.png" Type="http://schemas.openxmlformats.org/officeDocument/2006/relationships/image"/><Relationship Id="rId4" Target="../media/image3.sv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png" Type="http://schemas.openxmlformats.org/officeDocument/2006/relationships/image"/><Relationship Id="rId4" Target="../media/image12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3578708"/>
            <a:chOff x="0" y="0"/>
            <a:chExt cx="24384000" cy="4771611"/>
          </a:xfrm>
        </p:grpSpPr>
        <p:pic>
          <p:nvPicPr>
            <p:cNvPr name="Picture 3" id="3"/>
            <p:cNvPicPr>
              <a:picLocks noChangeAspect="true"/>
            </p:cNvPicPr>
            <p:nvPr/>
          </p:nvPicPr>
          <p:blipFill>
            <a:blip r:embed="rId2"/>
            <a:srcRect l="0" t="32553" r="0" b="32553"/>
            <a:stretch>
              <a:fillRect/>
            </a:stretch>
          </p:blipFill>
          <p:spPr>
            <a:xfrm flipH="false" flipV="false">
              <a:off x="0" y="0"/>
              <a:ext cx="24384000" cy="4771611"/>
            </a:xfrm>
            <a:prstGeom prst="rect">
              <a:avLst/>
            </a:prstGeom>
          </p:spPr>
        </p:pic>
      </p:grpSp>
      <p:grpSp>
        <p:nvGrpSpPr>
          <p:cNvPr name="Group 4" id="4"/>
          <p:cNvGrpSpPr/>
          <p:nvPr/>
        </p:nvGrpSpPr>
        <p:grpSpPr>
          <a:xfrm rot="0">
            <a:off x="1028700" y="-486707"/>
            <a:ext cx="1944202" cy="2820613"/>
            <a:chOff x="0" y="0"/>
            <a:chExt cx="2592269" cy="3760818"/>
          </a:xfrm>
        </p:grpSpPr>
        <p:sp>
          <p:nvSpPr>
            <p:cNvPr name="AutoShape 5" id="5"/>
            <p:cNvSpPr/>
            <p:nvPr/>
          </p:nvSpPr>
          <p:spPr>
            <a:xfrm rot="0">
              <a:off x="0" y="0"/>
              <a:ext cx="2592269" cy="3760818"/>
            </a:xfrm>
            <a:prstGeom prst="rect">
              <a:avLst/>
            </a:prstGeom>
            <a:solidFill>
              <a:srgbClr val="000000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5400000">
              <a:off x="805592" y="1006820"/>
              <a:ext cx="981085" cy="822328"/>
            </a:xfrm>
            <a:custGeom>
              <a:avLst/>
              <a:gdLst/>
              <a:ahLst/>
              <a:cxnLst/>
              <a:rect r="r" b="b" t="t" l="l"/>
              <a:pathLst>
                <a:path h="822328" w="981085">
                  <a:moveTo>
                    <a:pt x="0" y="0"/>
                  </a:moveTo>
                  <a:lnTo>
                    <a:pt x="981085" y="0"/>
                  </a:lnTo>
                  <a:lnTo>
                    <a:pt x="981085" y="822327"/>
                  </a:lnTo>
                  <a:lnTo>
                    <a:pt x="0" y="822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7" id="7"/>
          <p:cNvSpPr/>
          <p:nvPr/>
        </p:nvSpPr>
        <p:spPr>
          <a:xfrm flipH="false" flipV="false" rot="0">
            <a:off x="14206570" y="9014118"/>
            <a:ext cx="223817" cy="223817"/>
          </a:xfrm>
          <a:custGeom>
            <a:avLst/>
            <a:gdLst/>
            <a:ahLst/>
            <a:cxnLst/>
            <a:rect r="r" b="b" t="t" l="l"/>
            <a:pathLst>
              <a:path h="223817" w="223817">
                <a:moveTo>
                  <a:pt x="0" y="0"/>
                </a:moveTo>
                <a:lnTo>
                  <a:pt x="223817" y="0"/>
                </a:lnTo>
                <a:lnTo>
                  <a:pt x="223817" y="223817"/>
                </a:lnTo>
                <a:lnTo>
                  <a:pt x="0" y="22381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8" id="8"/>
          <p:cNvSpPr/>
          <p:nvPr/>
        </p:nvSpPr>
        <p:spPr>
          <a:xfrm rot="0">
            <a:off x="1028700" y="8188476"/>
            <a:ext cx="16230600" cy="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9" id="9"/>
          <p:cNvSpPr/>
          <p:nvPr/>
        </p:nvSpPr>
        <p:spPr>
          <a:xfrm flipH="false" flipV="false" rot="0">
            <a:off x="1106124" y="134023"/>
            <a:ext cx="1789354" cy="1966163"/>
          </a:xfrm>
          <a:custGeom>
            <a:avLst/>
            <a:gdLst/>
            <a:ahLst/>
            <a:cxnLst/>
            <a:rect r="r" b="b" t="t" l="l"/>
            <a:pathLst>
              <a:path h="1966163" w="1789354">
                <a:moveTo>
                  <a:pt x="0" y="0"/>
                </a:moveTo>
                <a:lnTo>
                  <a:pt x="1789354" y="0"/>
                </a:lnTo>
                <a:lnTo>
                  <a:pt x="1789354" y="1966163"/>
                </a:lnTo>
                <a:lnTo>
                  <a:pt x="0" y="1966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4940" t="0" r="-494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1028700" y="4189858"/>
            <a:ext cx="16230600" cy="3827168"/>
            <a:chOff x="0" y="0"/>
            <a:chExt cx="21640800" cy="5102891"/>
          </a:xfrm>
        </p:grpSpPr>
        <p:sp>
          <p:nvSpPr>
            <p:cNvPr name="TextBox 11" id="11"/>
            <p:cNvSpPr txBox="true"/>
            <p:nvPr/>
          </p:nvSpPr>
          <p:spPr>
            <a:xfrm rot="0">
              <a:off x="0" y="57150"/>
              <a:ext cx="21640800" cy="38016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1171"/>
                </a:lnSpc>
              </a:pPr>
              <a:r>
                <a:rPr lang="en-US" b="true" sz="9799" spc="97">
                  <a:solidFill>
                    <a:srgbClr val="FFFFFF"/>
                  </a:solidFill>
                  <a:latin typeface="Pragmatica Bold"/>
                  <a:ea typeface="Pragmatica Bold"/>
                  <a:cs typeface="Pragmatica Bold"/>
                  <a:sym typeface="Pragmatica Bold"/>
                </a:rPr>
                <a:t>CAPSTONE</a:t>
              </a:r>
            </a:p>
            <a:p>
              <a:pPr algn="l" marL="0" indent="0" lvl="0">
                <a:lnSpc>
                  <a:spcPts val="11171"/>
                </a:lnSpc>
              </a:pPr>
              <a:r>
                <a:rPr lang="en-US" b="true" sz="9799" spc="97">
                  <a:solidFill>
                    <a:srgbClr val="FFFFFF"/>
                  </a:solidFill>
                  <a:latin typeface="Pragmatica Bold"/>
                  <a:ea typeface="Pragmatica Bold"/>
                  <a:cs typeface="Pragmatica Bold"/>
                  <a:sym typeface="Pragmatica Bold"/>
                </a:rPr>
                <a:t>POS - ANALYTICS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0" y="4017168"/>
              <a:ext cx="19539964" cy="108572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191"/>
                </a:lnSpc>
              </a:pPr>
              <a:r>
                <a:rPr lang="en-US" sz="2799" spc="55">
                  <a:solidFill>
                    <a:srgbClr val="FFFFFF"/>
                  </a:solidFill>
                  <a:latin typeface="TT Interphases"/>
                  <a:ea typeface="TT Interphases"/>
                  <a:cs typeface="TT Interphases"/>
                  <a:sym typeface="TT Interphases"/>
                </a:rPr>
                <a:t>Plataforma Híb</a:t>
              </a:r>
              <a:r>
                <a:rPr lang="en-US" sz="2799" spc="55">
                  <a:solidFill>
                    <a:srgbClr val="FFFFFF"/>
                  </a:solidFill>
                  <a:latin typeface="TT Interphases"/>
                  <a:ea typeface="TT Interphases"/>
                  <a:cs typeface="TT Interphases"/>
                  <a:sym typeface="TT Interphases"/>
                </a:rPr>
                <a:t>rida de Punto de Venta con Motor de Minería de Datos Local y Sincronización Cloud para Gestión y Analítica Remota en Comercio Minorista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028700" y="8752188"/>
            <a:ext cx="9594085" cy="747677"/>
            <a:chOff x="0" y="0"/>
            <a:chExt cx="12792114" cy="996903"/>
          </a:xfrm>
        </p:grpSpPr>
        <p:sp>
          <p:nvSpPr>
            <p:cNvPr name="TextBox 14" id="14"/>
            <p:cNvSpPr txBox="true"/>
            <p:nvPr/>
          </p:nvSpPr>
          <p:spPr>
            <a:xfrm rot="0">
              <a:off x="0" y="515319"/>
              <a:ext cx="12792114" cy="48158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36"/>
                </a:lnSpc>
              </a:pPr>
              <a:r>
                <a:rPr lang="en-US" sz="2400" spc="24">
                  <a:solidFill>
                    <a:srgbClr val="FFFFFF"/>
                  </a:solidFill>
                  <a:latin typeface="TT Interphases"/>
                  <a:ea typeface="TT Interphases"/>
                  <a:cs typeface="TT Interphases"/>
                  <a:sym typeface="TT Interphases"/>
                </a:rPr>
                <a:t>Joaquín Cabrera, Sebastian Quilodran y Brayan Cid</a:t>
              </a:r>
            </a:p>
          </p:txBody>
        </p:sp>
        <p:sp>
          <p:nvSpPr>
            <p:cNvPr name="TextBox 15" id="15"/>
            <p:cNvSpPr txBox="true"/>
            <p:nvPr/>
          </p:nvSpPr>
          <p:spPr>
            <a:xfrm rot="0">
              <a:off x="0" y="9525"/>
              <a:ext cx="12792114" cy="43192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508"/>
                </a:lnSpc>
                <a:spcBef>
                  <a:spcPct val="0"/>
                </a:spcBef>
              </a:pPr>
              <a:r>
                <a:rPr lang="en-US" b="true" sz="2200" u="none">
                  <a:solidFill>
                    <a:srgbClr val="FFFFFF"/>
                  </a:solidFill>
                  <a:latin typeface="Pragmatica Bold"/>
                  <a:ea typeface="Pragmatica Bold"/>
                  <a:cs typeface="Pragmatica Bold"/>
                  <a:sym typeface="Pragmatica Bold"/>
                </a:rPr>
                <a:t>PRESENTADO POR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5783" y="1028700"/>
            <a:ext cx="8278861" cy="8499300"/>
            <a:chOff x="0" y="0"/>
            <a:chExt cx="11038481" cy="11332401"/>
          </a:xfrm>
        </p:grpSpPr>
        <p:sp>
          <p:nvSpPr>
            <p:cNvPr name="AutoShape 3" id="3"/>
            <p:cNvSpPr/>
            <p:nvPr/>
          </p:nvSpPr>
          <p:spPr>
            <a:xfrm>
              <a:off x="483890" y="2311773"/>
              <a:ext cx="8454320" cy="0"/>
            </a:xfrm>
            <a:prstGeom prst="line">
              <a:avLst/>
            </a:prstGeom>
            <a:ln cap="flat" w="38100">
              <a:solidFill>
                <a:srgbClr val="000000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4" id="4"/>
            <p:cNvSpPr txBox="true"/>
            <p:nvPr/>
          </p:nvSpPr>
          <p:spPr>
            <a:xfrm rot="0">
              <a:off x="483890" y="28575"/>
              <a:ext cx="9161554" cy="12820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7410"/>
                </a:lnSpc>
              </a:pPr>
              <a:r>
                <a:rPr lang="en-US" b="true" sz="6500" spc="65">
                  <a:solidFill>
                    <a:srgbClr val="000000"/>
                  </a:solidFill>
                  <a:latin typeface="Pragmatica Bold"/>
                  <a:ea typeface="Pragmatica Bold"/>
                  <a:cs typeface="Pragmatica Bold"/>
                  <a:sym typeface="Pragmatica Bold"/>
                </a:rPr>
                <a:t>PROBL</a:t>
              </a:r>
              <a:r>
                <a:rPr lang="en-US" b="true" sz="6500" spc="65" u="none">
                  <a:solidFill>
                    <a:srgbClr val="000000"/>
                  </a:solidFill>
                  <a:latin typeface="Pragmatica Bold"/>
                  <a:ea typeface="Pragmatica Bold"/>
                  <a:cs typeface="Pragmatica Bold"/>
                  <a:sym typeface="Pragmatica Bold"/>
                </a:rPr>
                <a:t>EMÁTICA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0" y="3847765"/>
              <a:ext cx="11038481" cy="748463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567400" indent="-283700" lvl="1">
                <a:lnSpc>
                  <a:spcPts val="3679"/>
                </a:lnSpc>
                <a:buFont typeface="Arial"/>
                <a:buChar char="•"/>
              </a:pPr>
              <a:r>
                <a:rPr lang="en-US" sz="2628">
                  <a:solidFill>
                    <a:srgbClr val="000000"/>
                  </a:solidFill>
                  <a:latin typeface="Pragmatica"/>
                  <a:ea typeface="Pragmatica"/>
                  <a:cs typeface="Pragmatica"/>
                  <a:sym typeface="Pragmatica"/>
                </a:rPr>
                <a:t>Herrami</a:t>
              </a:r>
              <a:r>
                <a:rPr lang="en-US" sz="2628" u="none">
                  <a:solidFill>
                    <a:srgbClr val="000000"/>
                  </a:solidFill>
                  <a:latin typeface="Pragmatica"/>
                  <a:ea typeface="Pragmatica"/>
                  <a:cs typeface="Pragmatica"/>
                  <a:sym typeface="Pragmatica"/>
                </a:rPr>
                <a:t>entas inaccesibles: El Business Intelligence corporativo es costoso, complejo e inalcanzable para el pequeño comercio. </a:t>
              </a:r>
            </a:p>
            <a:p>
              <a:pPr algn="l">
                <a:lnSpc>
                  <a:spcPts val="3679"/>
                </a:lnSpc>
              </a:pPr>
            </a:p>
            <a:p>
              <a:pPr algn="l" marL="567400" indent="-283700" lvl="1">
                <a:lnSpc>
                  <a:spcPts val="3679"/>
                </a:lnSpc>
                <a:buFont typeface="Arial"/>
                <a:buChar char="•"/>
              </a:pPr>
              <a:r>
                <a:rPr lang="en-US" sz="2628" u="none">
                  <a:solidFill>
                    <a:srgbClr val="000000"/>
                  </a:solidFill>
                  <a:latin typeface="Pragmatica"/>
                  <a:ea typeface="Pragmatica"/>
                  <a:cs typeface="Pragmatica"/>
                  <a:sym typeface="Pragmatica"/>
                </a:rPr>
                <a:t>Datos sin </a:t>
              </a:r>
              <a:r>
                <a:rPr lang="en-US" sz="2628" u="none">
                  <a:solidFill>
                    <a:srgbClr val="000000"/>
                  </a:solidFill>
                  <a:latin typeface="Pragmatica"/>
                  <a:ea typeface="Pragmatica"/>
                  <a:cs typeface="Pragmatica"/>
                  <a:sym typeface="Pragmatica"/>
                </a:rPr>
                <a:t>explotar: Los POS convencionales solo acumulan registros pasivos sin convertirlos en decisiones comerciales útiles. </a:t>
              </a:r>
            </a:p>
            <a:p>
              <a:pPr algn="l">
                <a:lnSpc>
                  <a:spcPts val="3679"/>
                </a:lnSpc>
              </a:pPr>
            </a:p>
            <a:p>
              <a:pPr algn="l" marL="567400" indent="-283700" lvl="1">
                <a:lnSpc>
                  <a:spcPts val="3679"/>
                </a:lnSpc>
                <a:buFont typeface="Arial"/>
                <a:buChar char="•"/>
              </a:pPr>
              <a:r>
                <a:rPr lang="en-US" sz="2628" u="none">
                  <a:solidFill>
                    <a:srgbClr val="000000"/>
                  </a:solidFill>
                  <a:latin typeface="Pragmatica"/>
                  <a:ea typeface="Pragmatica"/>
                  <a:cs typeface="Pragmatica"/>
                  <a:sym typeface="Pragmatica"/>
                </a:rPr>
                <a:t>D</a:t>
              </a:r>
              <a:r>
                <a:rPr lang="en-US" sz="2628" u="none">
                  <a:solidFill>
                    <a:srgbClr val="000000"/>
                  </a:solidFill>
                  <a:latin typeface="Pragmatica"/>
                  <a:ea typeface="Pragmatica"/>
                  <a:cs typeface="Pragmatica"/>
                  <a:sym typeface="Pragmatica"/>
                </a:rPr>
                <a:t>ependencia crítica de red: Las plataformas en la nube paralizan la venta y el cobro ante cualquier corte de Internet o caída de servidor. </a:t>
              </a:r>
            </a:p>
            <a:p>
              <a:pPr algn="l">
                <a:lnSpc>
                  <a:spcPts val="40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0" y="9258300"/>
            <a:ext cx="18288000" cy="1028700"/>
            <a:chOff x="0" y="0"/>
            <a:chExt cx="4816593" cy="27093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816592" cy="270933"/>
            </a:xfrm>
            <a:custGeom>
              <a:avLst/>
              <a:gdLst/>
              <a:ahLst/>
              <a:cxnLst/>
              <a:rect r="r" b="b" t="t" l="l"/>
              <a:pathLst>
                <a:path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4816593" cy="2995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5193537" y="9589260"/>
            <a:ext cx="3094463" cy="366780"/>
            <a:chOff x="0" y="0"/>
            <a:chExt cx="4125951" cy="489041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562691" y="66593"/>
              <a:ext cx="3563260" cy="36537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165"/>
                </a:lnSpc>
              </a:pPr>
              <a:r>
                <a:rPr lang="en-US" b="true" sz="1899" spc="37">
                  <a:solidFill>
                    <a:srgbClr val="FFFFFF"/>
                  </a:solidFill>
                  <a:latin typeface="TT Interphases Bold"/>
                  <a:ea typeface="TT Interphases Bold"/>
                  <a:cs typeface="TT Interphases Bold"/>
                  <a:sym typeface="TT Interphases Bold"/>
                </a:rPr>
                <a:t>POS-Analytics</a:t>
              </a:r>
            </a:p>
          </p:txBody>
        </p:sp>
        <p:sp>
          <p:nvSpPr>
            <p:cNvPr name="Freeform 11" id="11"/>
            <p:cNvSpPr/>
            <p:nvPr/>
          </p:nvSpPr>
          <p:spPr>
            <a:xfrm flipH="false" flipV="false" rot="5400000">
              <a:off x="-39568" y="39568"/>
              <a:ext cx="489041" cy="409905"/>
            </a:xfrm>
            <a:custGeom>
              <a:avLst/>
              <a:gdLst/>
              <a:ahLst/>
              <a:cxnLst/>
              <a:rect r="r" b="b" t="t" l="l"/>
              <a:pathLst>
                <a:path h="409905" w="489041">
                  <a:moveTo>
                    <a:pt x="0" y="0"/>
                  </a:moveTo>
                  <a:lnTo>
                    <a:pt x="489041" y="0"/>
                  </a:lnTo>
                  <a:lnTo>
                    <a:pt x="489041" y="409905"/>
                  </a:lnTo>
                  <a:lnTo>
                    <a:pt x="0" y="409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8944643" y="1688629"/>
            <a:ext cx="9343357" cy="6228905"/>
          </a:xfrm>
          <a:custGeom>
            <a:avLst/>
            <a:gdLst/>
            <a:ahLst/>
            <a:cxnLst/>
            <a:rect r="r" b="b" t="t" l="l"/>
            <a:pathLst>
              <a:path h="6228905" w="9343357">
                <a:moveTo>
                  <a:pt x="0" y="0"/>
                </a:moveTo>
                <a:lnTo>
                  <a:pt x="9343357" y="0"/>
                </a:lnTo>
                <a:lnTo>
                  <a:pt x="9343357" y="6228905"/>
                </a:lnTo>
                <a:lnTo>
                  <a:pt x="0" y="62289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258300"/>
            <a:ext cx="18288000" cy="1028700"/>
            <a:chOff x="0" y="0"/>
            <a:chExt cx="4816593" cy="2709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270933"/>
            </a:xfrm>
            <a:custGeom>
              <a:avLst/>
              <a:gdLst/>
              <a:ahLst/>
              <a:cxnLst/>
              <a:rect r="r" b="b" t="t" l="l"/>
              <a:pathLst>
                <a:path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4816593" cy="2995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AutoShape 5" id="5"/>
          <p:cNvSpPr/>
          <p:nvPr/>
        </p:nvSpPr>
        <p:spPr>
          <a:xfrm rot="0">
            <a:off x="8799375" y="3253109"/>
            <a:ext cx="8459925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6" id="6"/>
          <p:cNvSpPr/>
          <p:nvPr/>
        </p:nvSpPr>
        <p:spPr>
          <a:xfrm rot="0">
            <a:off x="8799375" y="6290721"/>
            <a:ext cx="8459925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7" id="7"/>
          <p:cNvGrpSpPr/>
          <p:nvPr/>
        </p:nvGrpSpPr>
        <p:grpSpPr>
          <a:xfrm rot="0">
            <a:off x="15193537" y="9589260"/>
            <a:ext cx="3094463" cy="366780"/>
            <a:chOff x="0" y="0"/>
            <a:chExt cx="4125951" cy="489041"/>
          </a:xfrm>
        </p:grpSpPr>
        <p:sp>
          <p:nvSpPr>
            <p:cNvPr name="TextBox 8" id="8"/>
            <p:cNvSpPr txBox="true"/>
            <p:nvPr/>
          </p:nvSpPr>
          <p:spPr>
            <a:xfrm rot="0">
              <a:off x="562691" y="66593"/>
              <a:ext cx="3563260" cy="36537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165"/>
                </a:lnSpc>
              </a:pPr>
              <a:r>
                <a:rPr lang="en-US" b="true" sz="1899" spc="37">
                  <a:solidFill>
                    <a:srgbClr val="FFFFFF"/>
                  </a:solidFill>
                  <a:latin typeface="TT Interphases Bold"/>
                  <a:ea typeface="TT Interphases Bold"/>
                  <a:cs typeface="TT Interphases Bold"/>
                  <a:sym typeface="TT Interphases Bold"/>
                </a:rPr>
                <a:t>POS-Analytics</a:t>
              </a:r>
            </a:p>
          </p:txBody>
        </p:sp>
        <p:sp>
          <p:nvSpPr>
            <p:cNvPr name="Freeform 9" id="9"/>
            <p:cNvSpPr/>
            <p:nvPr/>
          </p:nvSpPr>
          <p:spPr>
            <a:xfrm flipH="false" flipV="false" rot="5400000">
              <a:off x="-39568" y="39568"/>
              <a:ext cx="489041" cy="409905"/>
            </a:xfrm>
            <a:custGeom>
              <a:avLst/>
              <a:gdLst/>
              <a:ahLst/>
              <a:cxnLst/>
              <a:rect r="r" b="b" t="t" l="l"/>
              <a:pathLst>
                <a:path h="409905" w="489041">
                  <a:moveTo>
                    <a:pt x="0" y="0"/>
                  </a:moveTo>
                  <a:lnTo>
                    <a:pt x="489041" y="0"/>
                  </a:lnTo>
                  <a:lnTo>
                    <a:pt x="489041" y="409905"/>
                  </a:lnTo>
                  <a:lnTo>
                    <a:pt x="0" y="409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0" id="10"/>
          <p:cNvSpPr/>
          <p:nvPr/>
        </p:nvSpPr>
        <p:spPr>
          <a:xfrm flipH="false" flipV="false" rot="0">
            <a:off x="0" y="4252603"/>
            <a:ext cx="7865505" cy="4104811"/>
          </a:xfrm>
          <a:custGeom>
            <a:avLst/>
            <a:gdLst/>
            <a:ahLst/>
            <a:cxnLst/>
            <a:rect r="r" b="b" t="t" l="l"/>
            <a:pathLst>
              <a:path h="4104811" w="7865505">
                <a:moveTo>
                  <a:pt x="0" y="0"/>
                </a:moveTo>
                <a:lnTo>
                  <a:pt x="7865505" y="0"/>
                </a:lnTo>
                <a:lnTo>
                  <a:pt x="7865505" y="4104811"/>
                </a:lnTo>
                <a:lnTo>
                  <a:pt x="0" y="41048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028700" y="1057275"/>
            <a:ext cx="7109601" cy="1887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410"/>
              </a:lnSpc>
            </a:pPr>
            <a:r>
              <a:rPr lang="en-US" b="true" sz="6500" spc="65" u="none">
                <a:solidFill>
                  <a:srgbClr val="000000"/>
                </a:solidFill>
                <a:latin typeface="Pragmatica Bold"/>
                <a:ea typeface="Pragmatica Bold"/>
                <a:cs typeface="Pragmatica Bold"/>
                <a:sym typeface="Pragmatica Bold"/>
              </a:rPr>
              <a:t>SOLUCION PROPUESTA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799375" y="1637495"/>
            <a:ext cx="8459925" cy="1046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6"/>
              </a:lnSpc>
            </a:pPr>
            <a:r>
              <a:rPr lang="en-US" sz="2400" spc="24">
                <a:solidFill>
                  <a:srgbClr val="000000"/>
                </a:solidFill>
                <a:latin typeface="TT Interphases"/>
                <a:ea typeface="TT Interphases"/>
                <a:cs typeface="TT Interphases"/>
                <a:sym typeface="TT Interphases"/>
              </a:rPr>
              <a:t>Terminal POS Off</a:t>
            </a:r>
            <a:r>
              <a:rPr lang="en-US" sz="2400" spc="24">
                <a:solidFill>
                  <a:srgbClr val="000000"/>
                </a:solidFill>
                <a:latin typeface="TT Interphases"/>
                <a:ea typeface="TT Interphases"/>
                <a:cs typeface="TT Interphases"/>
                <a:sym typeface="TT Interphases"/>
              </a:rPr>
              <a:t>line-First: Software de escritorio de alta velocidad y funcionamiento autónomo, integrado con lectores ópticos e impresoras térmicas.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8799375" y="3743325"/>
            <a:ext cx="8459925" cy="1766345"/>
            <a:chOff x="0" y="0"/>
            <a:chExt cx="11279900" cy="2355127"/>
          </a:xfrm>
        </p:grpSpPr>
        <p:sp>
          <p:nvSpPr>
            <p:cNvPr name="TextBox 14" id="14"/>
            <p:cNvSpPr txBox="true"/>
            <p:nvPr/>
          </p:nvSpPr>
          <p:spPr>
            <a:xfrm rot="0">
              <a:off x="0" y="0"/>
              <a:ext cx="11279900" cy="685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079"/>
                </a:lnSpc>
                <a:spcBef>
                  <a:spcPct val="0"/>
                </a:spcBef>
              </a:pPr>
            </a:p>
          </p:txBody>
        </p:sp>
        <p:sp>
          <p:nvSpPr>
            <p:cNvPr name="TextBox 15" id="15"/>
            <p:cNvSpPr txBox="true"/>
            <p:nvPr/>
          </p:nvSpPr>
          <p:spPr>
            <a:xfrm rot="0">
              <a:off x="0" y="918757"/>
              <a:ext cx="11279900" cy="139598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36"/>
                </a:lnSpc>
              </a:pPr>
              <a:r>
                <a:rPr lang="en-US" sz="2400" spc="24">
                  <a:solidFill>
                    <a:srgbClr val="000000"/>
                  </a:solidFill>
                  <a:latin typeface="TT Interphases"/>
                  <a:ea typeface="TT Interphases"/>
                  <a:cs typeface="TT Interphases"/>
                  <a:sym typeface="TT Interphases"/>
                </a:rPr>
                <a:t>Motor Ana</a:t>
              </a:r>
              <a:r>
                <a:rPr lang="en-US" sz="2400" spc="24">
                  <a:solidFill>
                    <a:srgbClr val="000000"/>
                  </a:solidFill>
                  <a:latin typeface="TT Interphases"/>
                  <a:ea typeface="TT Interphases"/>
                  <a:cs typeface="TT Interphases"/>
                  <a:sym typeface="TT Interphases"/>
                </a:rPr>
                <a:t>lítico Transaccional Local: Procesamiento en segundo plano que extrae patrones de demanda temporal, márgenes netos y reglas de afinidad entre productos. </a:t>
              </a: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8799375" y="7430784"/>
            <a:ext cx="8459925" cy="1046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6"/>
              </a:lnSpc>
            </a:pPr>
            <a:r>
              <a:rPr lang="en-US" sz="2400" spc="24">
                <a:solidFill>
                  <a:srgbClr val="000000"/>
                </a:solidFill>
                <a:latin typeface="TT Interphases"/>
                <a:ea typeface="TT Interphases"/>
                <a:cs typeface="TT Interphases"/>
                <a:sym typeface="TT Interphases"/>
              </a:rPr>
              <a:t>Ca</a:t>
            </a:r>
            <a:r>
              <a:rPr lang="en-US" sz="2400" spc="24">
                <a:solidFill>
                  <a:srgbClr val="000000"/>
                </a:solidFill>
                <a:latin typeface="TT Interphases"/>
                <a:ea typeface="TT Interphases"/>
                <a:cs typeface="TT Interphases"/>
                <a:sym typeface="TT Interphases"/>
              </a:rPr>
              <a:t>pa Cloud y Supervisión Remota: Replicación asíncrona tolerante a fallos hacia la nube y panel web móvil para consulta de métricas en tiempo real.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3670604"/>
            <a:chOff x="0" y="0"/>
            <a:chExt cx="24384000" cy="4894138"/>
          </a:xfrm>
        </p:grpSpPr>
        <p:pic>
          <p:nvPicPr>
            <p:cNvPr name="Picture 3" id="3"/>
            <p:cNvPicPr>
              <a:picLocks noChangeAspect="true"/>
            </p:cNvPicPr>
            <p:nvPr/>
          </p:nvPicPr>
          <p:blipFill>
            <a:blip r:embed="rId2"/>
            <a:srcRect l="0" t="33044" r="0" b="33044"/>
            <a:stretch>
              <a:fillRect/>
            </a:stretch>
          </p:blipFill>
          <p:spPr>
            <a:xfrm flipH="false" flipV="false">
              <a:off x="0" y="0"/>
              <a:ext cx="24384000" cy="4894138"/>
            </a:xfrm>
            <a:prstGeom prst="rect">
              <a:avLst/>
            </a:prstGeom>
          </p:spPr>
        </p:pic>
      </p:grpSp>
      <p:grpSp>
        <p:nvGrpSpPr>
          <p:cNvPr name="Group 4" id="4"/>
          <p:cNvGrpSpPr/>
          <p:nvPr/>
        </p:nvGrpSpPr>
        <p:grpSpPr>
          <a:xfrm rot="0">
            <a:off x="1028700" y="4681848"/>
            <a:ext cx="7812715" cy="2340613"/>
            <a:chOff x="0" y="0"/>
            <a:chExt cx="10416953" cy="3120818"/>
          </a:xfrm>
        </p:grpSpPr>
        <p:sp>
          <p:nvSpPr>
            <p:cNvPr name="TextBox 5" id="5"/>
            <p:cNvSpPr txBox="true"/>
            <p:nvPr/>
          </p:nvSpPr>
          <p:spPr>
            <a:xfrm rot="0">
              <a:off x="0" y="28575"/>
              <a:ext cx="10416953" cy="2526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7410"/>
                </a:lnSpc>
              </a:pPr>
              <a:r>
                <a:rPr lang="en-US" b="true" sz="6500" spc="65">
                  <a:solidFill>
                    <a:srgbClr val="FFFFFF"/>
                  </a:solidFill>
                  <a:latin typeface="Pragmatica Bold"/>
                  <a:ea typeface="Pragmatica Bold"/>
                  <a:cs typeface="Pragmatica Bold"/>
                  <a:sym typeface="Pragmatica Bold"/>
                </a:rPr>
                <a:t>OBJETIVO GENERAL</a:t>
              </a:r>
            </a:p>
          </p:txBody>
        </p:sp>
        <p:sp>
          <p:nvSpPr>
            <p:cNvPr name="AutoShape 6" id="6"/>
            <p:cNvSpPr/>
            <p:nvPr/>
          </p:nvSpPr>
          <p:spPr>
            <a:xfrm>
              <a:off x="0" y="3095418"/>
              <a:ext cx="10416953" cy="0"/>
            </a:xfrm>
            <a:prstGeom prst="line">
              <a:avLst/>
            </a:prstGeom>
            <a:ln cap="flat" w="50800">
              <a:solidFill>
                <a:srgbClr val="FFFFFF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0414013" y="4681848"/>
            <a:ext cx="6845287" cy="6662427"/>
            <a:chOff x="0" y="0"/>
            <a:chExt cx="9127050" cy="8883236"/>
          </a:xfrm>
        </p:grpSpPr>
        <p:sp>
          <p:nvSpPr>
            <p:cNvPr name="TextBox 8" id="8"/>
            <p:cNvSpPr txBox="true"/>
            <p:nvPr/>
          </p:nvSpPr>
          <p:spPr>
            <a:xfrm rot="0">
              <a:off x="0" y="-47625"/>
              <a:ext cx="9127050" cy="6131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920"/>
                </a:lnSpc>
              </a:pP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692573"/>
              <a:ext cx="9127050" cy="34290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079"/>
                </a:lnSpc>
                <a:spcBef>
                  <a:spcPct val="0"/>
                </a:spcBef>
              </a:pPr>
              <a:r>
                <a:rPr lang="en-US" sz="3399">
                  <a:solidFill>
                    <a:srgbClr val="FFFFFF"/>
                  </a:solidFill>
                  <a:latin typeface="TT Interphases"/>
                  <a:ea typeface="TT Interphases"/>
                  <a:cs typeface="TT Interphases"/>
                  <a:sym typeface="TT Interphases"/>
                </a:rPr>
                <a:t>Desarrollar una plataforma </a:t>
              </a:r>
              <a:r>
                <a:rPr lang="en-US" sz="3399" u="none">
                  <a:solidFill>
                    <a:srgbClr val="FFFFFF"/>
                  </a:solidFill>
                  <a:latin typeface="TT Interphases"/>
                  <a:ea typeface="TT Interphases"/>
                  <a:cs typeface="TT Interphases"/>
                  <a:sym typeface="TT Interphases"/>
                </a:rPr>
                <a:t>híbrida de punto de venta con un motor de análisis e inteligencia de ventas local y sincronización asíncrona hacia la nube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5076406"/>
              <a:ext cx="9127050" cy="6131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1">
                <a:lnSpc>
                  <a:spcPts val="3920"/>
                </a:lnSpc>
                <a:spcBef>
                  <a:spcPct val="0"/>
                </a:spcBef>
              </a:pP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5816605"/>
              <a:ext cx="9127050" cy="685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079"/>
                </a:lnSpc>
                <a:spcBef>
                  <a:spcPct val="0"/>
                </a:spcBef>
              </a:pP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0" y="8197436"/>
              <a:ext cx="9127050" cy="685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079"/>
                </a:lnSpc>
                <a:spcBef>
                  <a:spcPct val="0"/>
                </a:spcBef>
              </a:pP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9258300"/>
            <a:ext cx="18288000" cy="1028700"/>
            <a:chOff x="0" y="0"/>
            <a:chExt cx="4816593" cy="2709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816592" cy="270933"/>
            </a:xfrm>
            <a:custGeom>
              <a:avLst/>
              <a:gdLst/>
              <a:ahLst/>
              <a:cxnLst/>
              <a:rect r="r" b="b" t="t" l="l"/>
              <a:pathLst>
                <a:path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28575"/>
              <a:ext cx="4816593" cy="2995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28700" y="1645406"/>
            <a:ext cx="6340740" cy="3735594"/>
            <a:chOff x="0" y="0"/>
            <a:chExt cx="8454320" cy="4980792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28575"/>
              <a:ext cx="8454320" cy="25266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7410"/>
                </a:lnSpc>
              </a:pPr>
              <a:r>
                <a:rPr lang="en-US" b="true" sz="6500" spc="65" u="none">
                  <a:solidFill>
                    <a:srgbClr val="000000"/>
                  </a:solidFill>
                  <a:latin typeface="Pragmatica Bold"/>
                  <a:ea typeface="Pragmatica Bold"/>
                  <a:cs typeface="Pragmatica Bold"/>
                  <a:sym typeface="Pragmatica Bold"/>
                </a:rPr>
                <a:t>OBJETIVOS ESPECÍFICOS</a:t>
              </a:r>
            </a:p>
          </p:txBody>
        </p:sp>
        <p:sp>
          <p:nvSpPr>
            <p:cNvPr name="AutoShape 7" id="7"/>
            <p:cNvSpPr/>
            <p:nvPr/>
          </p:nvSpPr>
          <p:spPr>
            <a:xfrm>
              <a:off x="0" y="3157918"/>
              <a:ext cx="8454320" cy="0"/>
            </a:xfrm>
            <a:prstGeom prst="line">
              <a:avLst/>
            </a:prstGeom>
            <a:ln cap="flat" w="38100">
              <a:solidFill>
                <a:srgbClr val="000000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8" id="8"/>
            <p:cNvSpPr txBox="true"/>
            <p:nvPr/>
          </p:nvSpPr>
          <p:spPr>
            <a:xfrm rot="0">
              <a:off x="0" y="3707193"/>
              <a:ext cx="8454320" cy="12735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920"/>
                </a:lnSpc>
              </a:pPr>
              <a:r>
                <a:rPr lang="en-US" sz="2800" u="none">
                  <a:solidFill>
                    <a:srgbClr val="000000"/>
                  </a:solidFill>
                  <a:latin typeface="Pragmatica"/>
                  <a:ea typeface="Pragmatica"/>
                  <a:cs typeface="Pragmatica"/>
                  <a:sym typeface="Pragmatica"/>
                </a:rPr>
                <a:t>Describí brevemente lo</a:t>
              </a:r>
            </a:p>
            <a:p>
              <a:pPr algn="l">
                <a:lnSpc>
                  <a:spcPts val="3920"/>
                </a:lnSpc>
              </a:pPr>
              <a:r>
                <a:rPr lang="en-US" sz="2800" u="none">
                  <a:solidFill>
                    <a:srgbClr val="000000"/>
                  </a:solidFill>
                  <a:latin typeface="Pragmatica"/>
                  <a:ea typeface="Pragmatica"/>
                  <a:cs typeface="Pragmatica"/>
                  <a:sym typeface="Pragmatica"/>
                </a:rPr>
                <a:t>que querés exponer.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8278082" y="1335370"/>
            <a:ext cx="4539441" cy="3108814"/>
            <a:chOff x="0" y="0"/>
            <a:chExt cx="1538147" cy="1053392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538147" cy="1053392"/>
            </a:xfrm>
            <a:custGeom>
              <a:avLst/>
              <a:gdLst/>
              <a:ahLst/>
              <a:cxnLst/>
              <a:rect r="r" b="b" t="t" l="l"/>
              <a:pathLst>
                <a:path h="1053392" w="1538147">
                  <a:moveTo>
                    <a:pt x="0" y="0"/>
                  </a:moveTo>
                  <a:lnTo>
                    <a:pt x="1538147" y="0"/>
                  </a:lnTo>
                  <a:lnTo>
                    <a:pt x="1538147" y="1053392"/>
                  </a:lnTo>
                  <a:lnTo>
                    <a:pt x="0" y="1053392"/>
                  </a:lnTo>
                  <a:close/>
                </a:path>
              </a:pathLst>
            </a:custGeom>
            <a:solidFill>
              <a:srgbClr val="000000"/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133350"/>
              <a:ext cx="1538147" cy="11867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9100"/>
                </a:lnSpc>
              </a:pPr>
              <a:r>
                <a:rPr lang="en-US" b="true" sz="6500">
                  <a:solidFill>
                    <a:srgbClr val="FFFFFF"/>
                  </a:solidFill>
                  <a:latin typeface="Pragmatica Bold"/>
                  <a:ea typeface="Pragmatica Bold"/>
                  <a:cs typeface="Pragmatica Bold"/>
                  <a:sym typeface="Pragmatica Bold"/>
                </a:rPr>
                <a:t>1</a:t>
              </a:r>
              <a:r>
                <a:rPr lang="en-US" b="true" sz="6500">
                  <a:solidFill>
                    <a:srgbClr val="FFFFFF"/>
                  </a:solidFill>
                  <a:latin typeface="Pragmatica Bold"/>
                  <a:ea typeface="Pragmatica Bold"/>
                  <a:cs typeface="Pragmatica Bold"/>
                  <a:sym typeface="Pragmatica Bold"/>
                </a:rPr>
                <a:t>.000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3244419" y="1335370"/>
            <a:ext cx="4497086" cy="3071842"/>
            <a:chOff x="0" y="0"/>
            <a:chExt cx="5996115" cy="4095789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28575"/>
              <a:ext cx="5996115" cy="10666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191"/>
                </a:lnSpc>
              </a:pPr>
              <a:r>
                <a:rPr lang="en-US" b="true" sz="2799">
                  <a:solidFill>
                    <a:srgbClr val="000000"/>
                  </a:solidFill>
                  <a:latin typeface="Pragmatica Bold"/>
                  <a:ea typeface="Pragmatica Bold"/>
                  <a:cs typeface="Pragmatica Bold"/>
                  <a:sym typeface="Pragmatica Bold"/>
                </a:rPr>
                <a:t>C</a:t>
              </a:r>
              <a:r>
                <a:rPr lang="en-US" b="true" sz="2799" u="none">
                  <a:solidFill>
                    <a:srgbClr val="000000"/>
                  </a:solidFill>
                  <a:latin typeface="Pragmatica Bold"/>
                  <a:ea typeface="Pragmatica Bold"/>
                  <a:cs typeface="Pragmatica Bold"/>
                  <a:sym typeface="Pragmatica Bold"/>
                </a:rPr>
                <a:t>entralización y continuidad de caja: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328205"/>
              <a:ext cx="5996115" cy="276758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36"/>
                </a:lnSpc>
              </a:pPr>
              <a:r>
                <a:rPr lang="en-US" sz="2400" spc="24">
                  <a:solidFill>
                    <a:srgbClr val="000000"/>
                  </a:solidFill>
                  <a:latin typeface="TT Interphases"/>
                  <a:ea typeface="TT Interphases"/>
                  <a:cs typeface="TT Interphases"/>
                  <a:sym typeface="TT Interphases"/>
                </a:rPr>
                <a:t>Centra</a:t>
              </a:r>
              <a:r>
                <a:rPr lang="en-US" sz="2400" spc="24">
                  <a:solidFill>
                    <a:srgbClr val="000000"/>
                  </a:solidFill>
                  <a:latin typeface="TT Interphases"/>
                  <a:ea typeface="TT Interphases"/>
                  <a:cs typeface="TT Interphases"/>
                  <a:sym typeface="TT Interphases"/>
                </a:rPr>
                <a:t>lizar cobro e inventario registrando al menos 1.000 comprobantes continuos en el local sin interrupciones por corte de red dentro de 5 semanas de puesta en marcha.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3244419" y="5090840"/>
            <a:ext cx="4625674" cy="3471892"/>
            <a:chOff x="0" y="0"/>
            <a:chExt cx="6167565" cy="4629189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28575"/>
              <a:ext cx="6167565" cy="160007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191"/>
                </a:lnSpc>
              </a:pPr>
              <a:r>
                <a:rPr lang="en-US" b="true" sz="2799">
                  <a:solidFill>
                    <a:srgbClr val="000000"/>
                  </a:solidFill>
                  <a:latin typeface="Pragmatica Bold"/>
                  <a:ea typeface="Pragmatica Bold"/>
                  <a:cs typeface="Pragmatica Bold"/>
                  <a:sym typeface="Pragmatica Bold"/>
                </a:rPr>
                <a:t>D</a:t>
              </a:r>
              <a:r>
                <a:rPr lang="en-US" b="true" sz="2799" u="none">
                  <a:solidFill>
                    <a:srgbClr val="000000"/>
                  </a:solidFill>
                  <a:latin typeface="Pragmatica Bold"/>
                  <a:ea typeface="Pragmatica Bold"/>
                  <a:cs typeface="Pragmatica Bold"/>
                  <a:sym typeface="Pragmatica Bold"/>
                </a:rPr>
                <a:t>escubrimiento de oportunidades comerciales: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861605"/>
              <a:ext cx="6167565" cy="276758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36"/>
                </a:lnSpc>
              </a:pPr>
              <a:r>
                <a:rPr lang="en-US" sz="2400" spc="24">
                  <a:solidFill>
                    <a:srgbClr val="000000"/>
                  </a:solidFill>
                  <a:latin typeface="TT Interphases"/>
                  <a:ea typeface="TT Interphases"/>
                  <a:cs typeface="TT Interphases"/>
                  <a:sym typeface="TT Interphases"/>
                </a:rPr>
                <a:t>Procesar datos transaccionales </a:t>
              </a:r>
              <a:r>
                <a:rPr lang="en-US" sz="2400" spc="24">
                  <a:solidFill>
                    <a:srgbClr val="000000"/>
                  </a:solidFill>
                  <a:latin typeface="TT Interphases"/>
                  <a:ea typeface="TT Interphases"/>
                  <a:cs typeface="TT Interphases"/>
                  <a:sym typeface="TT Interphases"/>
                </a:rPr>
                <a:t>para identificar al menos 5 reglas de compra cruzada y presentar un reporte que derive en al menos una acción comercial validada en 10 semanas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8278082" y="5176757"/>
            <a:ext cx="4539441" cy="3108814"/>
            <a:chOff x="0" y="0"/>
            <a:chExt cx="1538147" cy="1053392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538147" cy="1053392"/>
            </a:xfrm>
            <a:custGeom>
              <a:avLst/>
              <a:gdLst/>
              <a:ahLst/>
              <a:cxnLst/>
              <a:rect r="r" b="b" t="t" l="l"/>
              <a:pathLst>
                <a:path h="1053392" w="1538147">
                  <a:moveTo>
                    <a:pt x="0" y="0"/>
                  </a:moveTo>
                  <a:lnTo>
                    <a:pt x="1538147" y="0"/>
                  </a:lnTo>
                  <a:lnTo>
                    <a:pt x="1538147" y="1053392"/>
                  </a:lnTo>
                  <a:lnTo>
                    <a:pt x="0" y="1053392"/>
                  </a:lnTo>
                  <a:close/>
                </a:path>
              </a:pathLst>
            </a:custGeom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133350"/>
              <a:ext cx="1538147" cy="11867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9100"/>
                </a:lnSpc>
              </a:pPr>
              <a:r>
                <a:rPr lang="en-US" b="true" sz="6500">
                  <a:solidFill>
                    <a:srgbClr val="000000"/>
                  </a:solidFill>
                  <a:latin typeface="Pragmatica Bold"/>
                  <a:ea typeface="Pragmatica Bold"/>
                  <a:cs typeface="Pragmatica Bold"/>
                  <a:sym typeface="Pragmatica Bold"/>
                </a:rPr>
                <a:t>5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5193537" y="9589260"/>
            <a:ext cx="3094463" cy="366780"/>
            <a:chOff x="0" y="0"/>
            <a:chExt cx="4125951" cy="489041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562691" y="66593"/>
              <a:ext cx="3563260" cy="36537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165"/>
                </a:lnSpc>
              </a:pPr>
              <a:r>
                <a:rPr lang="en-US" b="true" sz="1899" spc="37">
                  <a:solidFill>
                    <a:srgbClr val="FFFFFF"/>
                  </a:solidFill>
                  <a:latin typeface="TT Interphases Bold"/>
                  <a:ea typeface="TT Interphases Bold"/>
                  <a:cs typeface="TT Interphases Bold"/>
                  <a:sym typeface="TT Interphases Bold"/>
                </a:rPr>
                <a:t>POS-Analytics</a:t>
              </a:r>
            </a:p>
          </p:txBody>
        </p:sp>
        <p:sp>
          <p:nvSpPr>
            <p:cNvPr name="Freeform 23" id="23"/>
            <p:cNvSpPr/>
            <p:nvPr/>
          </p:nvSpPr>
          <p:spPr>
            <a:xfrm flipH="false" flipV="false" rot="5400000">
              <a:off x="-39568" y="39568"/>
              <a:ext cx="489041" cy="409905"/>
            </a:xfrm>
            <a:custGeom>
              <a:avLst/>
              <a:gdLst/>
              <a:ahLst/>
              <a:cxnLst/>
              <a:rect r="r" b="b" t="t" l="l"/>
              <a:pathLst>
                <a:path h="409905" w="489041">
                  <a:moveTo>
                    <a:pt x="0" y="0"/>
                  </a:moveTo>
                  <a:lnTo>
                    <a:pt x="489041" y="0"/>
                  </a:lnTo>
                  <a:lnTo>
                    <a:pt x="489041" y="409905"/>
                  </a:lnTo>
                  <a:lnTo>
                    <a:pt x="0" y="409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2870822" y="5030848"/>
            <a:ext cx="4008401" cy="40084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11792912" y="4902174"/>
            <a:ext cx="4473637" cy="3751397"/>
          </a:xfrm>
          <a:prstGeom prst="rect">
            <a:avLst/>
          </a:prstGeom>
        </p:spPr>
      </p:pic>
      <p:grpSp>
        <p:nvGrpSpPr>
          <p:cNvPr name="Group 4" id="4"/>
          <p:cNvGrpSpPr/>
          <p:nvPr/>
        </p:nvGrpSpPr>
        <p:grpSpPr>
          <a:xfrm rot="0">
            <a:off x="1942884" y="1442457"/>
            <a:ext cx="5864275" cy="3369338"/>
            <a:chOff x="0" y="0"/>
            <a:chExt cx="7819034" cy="4492451"/>
          </a:xfrm>
        </p:grpSpPr>
        <p:sp>
          <p:nvSpPr>
            <p:cNvPr name="TextBox 5" id="5"/>
            <p:cNvSpPr txBox="true"/>
            <p:nvPr/>
          </p:nvSpPr>
          <p:spPr>
            <a:xfrm rot="0">
              <a:off x="0" y="2182067"/>
              <a:ext cx="7819034" cy="231038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736"/>
                </a:lnSpc>
              </a:pPr>
              <a:r>
                <a:rPr lang="en-US" sz="2400" spc="24">
                  <a:solidFill>
                    <a:srgbClr val="FFFFFF"/>
                  </a:solidFill>
                  <a:latin typeface="TT Interphases"/>
                  <a:ea typeface="TT Interphases"/>
                  <a:cs typeface="TT Interphases"/>
                  <a:sym typeface="TT Interphases"/>
                </a:rPr>
                <a:t>Im</a:t>
              </a:r>
              <a:r>
                <a:rPr lang="en-US" sz="2400" spc="24">
                  <a:solidFill>
                    <a:srgbClr val="FFFFFF"/>
                  </a:solidFill>
                  <a:latin typeface="TT Interphases"/>
                  <a:ea typeface="TT Interphases"/>
                  <a:cs typeface="TT Interphases"/>
                  <a:sym typeface="TT Interphases"/>
                </a:rPr>
                <a:t>plementar un módulo de alertas automáticas de reposición y clasificación de rotación con un 85% de precisión en sugerencias validadas con el comerciante en 12 semanas.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0"/>
              <a:ext cx="7819034" cy="1371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4079"/>
                </a:lnSpc>
                <a:spcBef>
                  <a:spcPct val="0"/>
                </a:spcBef>
              </a:pPr>
              <a:r>
                <a:rPr lang="en-US" b="true" sz="3399">
                  <a:solidFill>
                    <a:srgbClr val="FFFFFF"/>
                  </a:solidFill>
                  <a:latin typeface="TT Interphases Bold"/>
                  <a:ea typeface="TT Interphases Bold"/>
                  <a:cs typeface="TT Interphases Bold"/>
                  <a:sym typeface="TT Interphases Bold"/>
                </a:rPr>
                <a:t>Diagnós</a:t>
              </a:r>
              <a:r>
                <a:rPr lang="en-US" b="true" sz="3399" u="none">
                  <a:solidFill>
                    <a:srgbClr val="FFFFFF"/>
                  </a:solidFill>
                  <a:latin typeface="TT Interphases Bold"/>
                  <a:ea typeface="TT Interphases Bold"/>
                  <a:cs typeface="TT Interphases Bold"/>
                  <a:sym typeface="TT Interphases Bold"/>
                </a:rPr>
                <a:t>tico y optimización de inventario: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-163520" y="9258300"/>
            <a:ext cx="18615039" cy="1396619"/>
            <a:chOff x="0" y="0"/>
            <a:chExt cx="4902726" cy="36783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902726" cy="367834"/>
            </a:xfrm>
            <a:custGeom>
              <a:avLst/>
              <a:gdLst/>
              <a:ahLst/>
              <a:cxnLst/>
              <a:rect r="r" b="b" t="t" l="l"/>
              <a:pathLst>
                <a:path h="367834" w="4902726">
                  <a:moveTo>
                    <a:pt x="0" y="0"/>
                  </a:moveTo>
                  <a:lnTo>
                    <a:pt x="4902726" y="0"/>
                  </a:lnTo>
                  <a:lnTo>
                    <a:pt x="4902726" y="367834"/>
                  </a:lnTo>
                  <a:lnTo>
                    <a:pt x="0" y="367834"/>
                  </a:lnTo>
                  <a:close/>
                </a:path>
              </a:pathLst>
            </a:custGeom>
            <a:solidFill>
              <a:srgbClr val="000000"/>
            </a:solidFill>
            <a:ln w="285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28575"/>
              <a:ext cx="4902726" cy="3964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AutoShape 10" id="10"/>
          <p:cNvSpPr/>
          <p:nvPr/>
        </p:nvSpPr>
        <p:spPr>
          <a:xfrm rot="5400000">
            <a:off x="4514850" y="4614863"/>
            <a:ext cx="9258300" cy="28575"/>
          </a:xfrm>
          <a:prstGeom prst="line">
            <a:avLst/>
          </a:prstGeom>
          <a:ln cap="flat" w="2857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11" id="11"/>
          <p:cNvGrpSpPr/>
          <p:nvPr/>
        </p:nvGrpSpPr>
        <p:grpSpPr>
          <a:xfrm rot="0">
            <a:off x="10711829" y="1442457"/>
            <a:ext cx="6571509" cy="3369338"/>
            <a:chOff x="0" y="0"/>
            <a:chExt cx="8762012" cy="4492451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2182067"/>
              <a:ext cx="8762012" cy="231038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736"/>
                </a:lnSpc>
              </a:pPr>
              <a:r>
                <a:rPr lang="en-US" sz="2400" spc="24">
                  <a:solidFill>
                    <a:srgbClr val="FFFFFF"/>
                  </a:solidFill>
                  <a:latin typeface="TT Interphases"/>
                  <a:ea typeface="TT Interphases"/>
                  <a:cs typeface="TT Interphases"/>
                  <a:sym typeface="TT Interphases"/>
                </a:rPr>
                <a:t>Garantizar un 100% de consistencia transaccional (cero datos perdidos o du</a:t>
              </a:r>
              <a:r>
                <a:rPr lang="en-US" sz="2400" spc="24">
                  <a:solidFill>
                    <a:srgbClr val="FFFFFF"/>
                  </a:solidFill>
                  <a:latin typeface="TT Interphases"/>
                  <a:ea typeface="TT Interphases"/>
                  <a:cs typeface="TT Interphases"/>
                  <a:sym typeface="TT Interphases"/>
                </a:rPr>
                <a:t>plicados) entre la terminal local y el dashboard web móvil durante 15 jornadas operativas continuas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535783" y="0"/>
              <a:ext cx="7776171" cy="13716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4079"/>
                </a:lnSpc>
                <a:spcBef>
                  <a:spcPct val="0"/>
                </a:spcBef>
              </a:pPr>
              <a:r>
                <a:rPr lang="en-US" b="true" sz="3399">
                  <a:solidFill>
                    <a:srgbClr val="FFFFFF"/>
                  </a:solidFill>
                  <a:latin typeface="TT Interphases Bold"/>
                  <a:ea typeface="TT Interphases Bold"/>
                  <a:cs typeface="TT Interphases Bold"/>
                  <a:sym typeface="TT Interphases Bold"/>
                </a:rPr>
                <a:t>R</a:t>
              </a:r>
              <a:r>
                <a:rPr lang="en-US" b="true" sz="3399" u="none">
                  <a:solidFill>
                    <a:srgbClr val="FFFFFF"/>
                  </a:solidFill>
                  <a:latin typeface="TT Interphases Bold"/>
                  <a:ea typeface="TT Interphases Bold"/>
                  <a:cs typeface="TT Interphases Bold"/>
                  <a:sym typeface="TT Interphases Bold"/>
                </a:rPr>
                <a:t>esiliencia e integridad cloud: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5193537" y="9589260"/>
            <a:ext cx="3094463" cy="366780"/>
            <a:chOff x="0" y="0"/>
            <a:chExt cx="4125951" cy="489041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562691" y="66593"/>
              <a:ext cx="3563260" cy="36537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165"/>
                </a:lnSpc>
              </a:pPr>
              <a:r>
                <a:rPr lang="en-US" b="true" sz="1899" spc="37">
                  <a:solidFill>
                    <a:srgbClr val="FFFFFF"/>
                  </a:solidFill>
                  <a:latin typeface="TT Interphases Bold"/>
                  <a:ea typeface="TT Interphases Bold"/>
                  <a:cs typeface="TT Interphases Bold"/>
                  <a:sym typeface="TT Interphases Bold"/>
                </a:rPr>
                <a:t>POS-Analytics</a:t>
              </a:r>
            </a:p>
          </p:txBody>
        </p:sp>
        <p:sp>
          <p:nvSpPr>
            <p:cNvPr name="Freeform 16" id="16"/>
            <p:cNvSpPr/>
            <p:nvPr/>
          </p:nvSpPr>
          <p:spPr>
            <a:xfrm flipH="false" flipV="false" rot="5400000">
              <a:off x="-39568" y="39568"/>
              <a:ext cx="489041" cy="409905"/>
            </a:xfrm>
            <a:custGeom>
              <a:avLst/>
              <a:gdLst/>
              <a:ahLst/>
              <a:cxnLst/>
              <a:rect r="r" b="b" t="t" l="l"/>
              <a:pathLst>
                <a:path h="409905" w="489041">
                  <a:moveTo>
                    <a:pt x="0" y="0"/>
                  </a:moveTo>
                  <a:lnTo>
                    <a:pt x="489041" y="0"/>
                  </a:lnTo>
                  <a:lnTo>
                    <a:pt x="489041" y="409905"/>
                  </a:lnTo>
                  <a:lnTo>
                    <a:pt x="0" y="409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Table 2" id="2"/>
          <p:cNvGraphicFramePr>
            <a:graphicFrameLocks noGrp="true"/>
          </p:cNvGraphicFramePr>
          <p:nvPr/>
        </p:nvGraphicFramePr>
        <p:xfrm>
          <a:off x="6765105" y="221110"/>
          <a:ext cx="11217502" cy="4821508"/>
        </p:xfrm>
        <a:graphic>
          <a:graphicData uri="http://schemas.openxmlformats.org/drawingml/2006/table">
            <a:tbl>
              <a:tblPr/>
              <a:tblGrid>
                <a:gridCol w="1287841"/>
                <a:gridCol w="9929661"/>
              </a:tblGrid>
              <a:tr h="1208264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FFFFF"/>
                          </a:solidFill>
                          <a:latin typeface="Pragmatica Bold"/>
                          <a:ea typeface="Pragmatica Bold"/>
                          <a:cs typeface="Pragmatica Bold"/>
                          <a:sym typeface="Pragmatica Bold"/>
                        </a:rPr>
                        <a:t>1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FFFFFF"/>
                          </a:solidFill>
                          <a:latin typeface="TT Interphases"/>
                          <a:ea typeface="TT Interphases"/>
                          <a:cs typeface="TT Interphases"/>
                          <a:sym typeface="TT Interphases"/>
                        </a:rPr>
                        <a:t>Terminal de escritorio para mostrador con módulos de venta rápida, catálogo, control de existencias y arqueo de turnos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282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FFFFF"/>
                          </a:solidFill>
                          <a:latin typeface="Pragmatica Bold"/>
                          <a:ea typeface="Pragmatica Bold"/>
                          <a:cs typeface="Pragmatica Bold"/>
                          <a:sym typeface="Pragmatica Bold"/>
                        </a:rPr>
                        <a:t>2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FFFFFF"/>
                          </a:solidFill>
                          <a:latin typeface="TT Interphases"/>
                          <a:ea typeface="TT Interphases"/>
                          <a:cs typeface="TT Interphases"/>
                          <a:sym typeface="TT Interphases"/>
                        </a:rPr>
                        <a:t>Motor analítico local con algoritmos deterministas de asociación (tipo Apriori) y análisis temporal.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9020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FFFFF"/>
                          </a:solidFill>
                          <a:latin typeface="Pragmatica Bold"/>
                          <a:ea typeface="Pragmatica Bold"/>
                          <a:cs typeface="Pragmatica Bold"/>
                          <a:sym typeface="Pragmatica Bold"/>
                        </a:rPr>
                        <a:t>3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FFFFFF"/>
                          </a:solidFill>
                          <a:latin typeface="TT Interphases"/>
                          <a:ea typeface="TT Interphases"/>
                          <a:cs typeface="TT Interphases"/>
                          <a:sym typeface="TT Interphases"/>
                        </a:rPr>
                        <a:t>Dashboard web responsivo optimizado para supervisión remota en teléfonos móviles. 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90208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FFFFF"/>
                          </a:solidFill>
                          <a:latin typeface="Pragmatica Bold"/>
                          <a:ea typeface="Pragmatica Bold"/>
                          <a:cs typeface="Pragmatica Bold"/>
                          <a:sym typeface="Pragmatica Bold"/>
                        </a:rPr>
                        <a:t>4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FFFFFF"/>
                          </a:solidFill>
                          <a:latin typeface="TT Interphases"/>
                          <a:ea typeface="TT Interphases"/>
                          <a:cs typeface="TT Interphases"/>
                          <a:sym typeface="TT Interphases"/>
                        </a:rPr>
                        <a:t>Validación operativa en terreno con comerciantes activos y transacciones reales. 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3" id="3"/>
          <p:cNvSpPr txBox="true"/>
          <p:nvPr/>
        </p:nvSpPr>
        <p:spPr>
          <a:xfrm rot="0">
            <a:off x="1028700" y="1057275"/>
            <a:ext cx="5059131" cy="954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410"/>
              </a:lnSpc>
            </a:pPr>
            <a:r>
              <a:rPr lang="en-US" b="true" sz="6500" spc="65">
                <a:solidFill>
                  <a:srgbClr val="FFFFFF"/>
                </a:solidFill>
                <a:latin typeface="Pragmatica Bold"/>
                <a:ea typeface="Pragmatica Bold"/>
                <a:cs typeface="Pragmatica Bold"/>
                <a:sym typeface="Pragmatica Bold"/>
              </a:rPr>
              <a:t>ALCANCES</a:t>
            </a:r>
          </a:p>
        </p:txBody>
      </p:sp>
      <p:graphicFrame>
        <p:nvGraphicFramePr>
          <p:cNvPr name="Table 4" id="4"/>
          <p:cNvGraphicFramePr>
            <a:graphicFrameLocks noGrp="true"/>
          </p:cNvGraphicFramePr>
          <p:nvPr/>
        </p:nvGraphicFramePr>
        <p:xfrm>
          <a:off x="6765105" y="5229730"/>
          <a:ext cx="11217502" cy="4836160"/>
        </p:xfrm>
        <a:graphic>
          <a:graphicData uri="http://schemas.openxmlformats.org/drawingml/2006/table">
            <a:tbl>
              <a:tblPr/>
              <a:tblGrid>
                <a:gridCol w="1287841"/>
                <a:gridCol w="9929661"/>
              </a:tblGrid>
              <a:tr h="114021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FFFFF"/>
                          </a:solidFill>
                          <a:latin typeface="Pragmatica Bold"/>
                          <a:ea typeface="Pragmatica Bold"/>
                          <a:cs typeface="Pragmatica Bold"/>
                          <a:sym typeface="Pragmatica Bold"/>
                        </a:rPr>
                        <a:t>1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FFFFFF"/>
                          </a:solidFill>
                          <a:latin typeface="TT Interphases"/>
                          <a:ea typeface="TT Interphases"/>
                          <a:cs typeface="TT Interphases"/>
                          <a:sym typeface="TT Interphases"/>
                        </a:rPr>
                        <a:t>Arquitectura mono-caja: El soporte está diseñado para operar en una única terminal principal de mostrador por local comercial.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0121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FFFFF"/>
                          </a:solidFill>
                          <a:latin typeface="Pragmatica Bold"/>
                          <a:ea typeface="Pragmatica Bold"/>
                          <a:cs typeface="Pragmatica Bold"/>
                          <a:sym typeface="Pragmatica Bold"/>
                        </a:rPr>
                        <a:t>2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FFFFFF"/>
                          </a:solidFill>
                          <a:latin typeface="TT Interphases"/>
                          <a:ea typeface="TT Interphases"/>
                          <a:cs typeface="TT Interphases"/>
                          <a:sym typeface="TT Interphases"/>
                        </a:rPr>
                        <a:t>Dependencia de conectividad intermitente para funciones remotas: Si bien la terminal opera de forma 100% autónoma y no requiere Internet para vender o analizar datos en el local, el envío de datos a la nube y el uso del panel web móvil requieren que el equipo disponga de conexión en algún momento para sincronizar.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494732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940"/>
                        </a:lnSpc>
                        <a:defRPr/>
                      </a:pPr>
                      <a:r>
                        <a:rPr lang="en-US" sz="2100" b="true">
                          <a:solidFill>
                            <a:srgbClr val="FFFFFF"/>
                          </a:solidFill>
                          <a:latin typeface="Pragmatica Bold"/>
                          <a:ea typeface="Pragmatica Bold"/>
                          <a:cs typeface="Pragmatica Bold"/>
                          <a:sym typeface="Pragmatica Bold"/>
                        </a:rPr>
                        <a:t>3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l">
                        <a:lnSpc>
                          <a:spcPts val="2799"/>
                        </a:lnSpc>
                        <a:defRPr/>
                      </a:pPr>
                      <a:r>
                        <a:rPr lang="en-US" sz="1999">
                          <a:solidFill>
                            <a:srgbClr val="FFFFFF"/>
                          </a:solidFill>
                          <a:latin typeface="TT Interphases"/>
                          <a:ea typeface="TT Interphases"/>
                          <a:cs typeface="TT Interphases"/>
                          <a:sym typeface="TT Interphases"/>
                        </a:rPr>
                        <a:t>Desacoplamiento de facturación tributaria formal (SII): El sistema no emite boletas o facturas electrónicas oficiales ante el Servicio de Impuestos Internos; su alcance se restringe a tickets térmicos y comprobantes de control interno. 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28575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5" id="5"/>
          <p:cNvSpPr txBox="true"/>
          <p:nvPr/>
        </p:nvSpPr>
        <p:spPr>
          <a:xfrm rot="0">
            <a:off x="1028700" y="5391335"/>
            <a:ext cx="5252013" cy="954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410"/>
              </a:lnSpc>
            </a:pPr>
            <a:r>
              <a:rPr lang="en-US" b="true" sz="6500" spc="65">
                <a:solidFill>
                  <a:srgbClr val="FFFFFF"/>
                </a:solidFill>
                <a:latin typeface="Pragmatica Bold"/>
                <a:ea typeface="Pragmatica Bold"/>
                <a:cs typeface="Pragmatica Bold"/>
                <a:sym typeface="Pragmatica Bold"/>
              </a:rPr>
              <a:t>LIMITES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49709" y="1028700"/>
            <a:ext cx="8278861" cy="8032575"/>
            <a:chOff x="0" y="0"/>
            <a:chExt cx="11038481" cy="10710101"/>
          </a:xfrm>
        </p:grpSpPr>
        <p:sp>
          <p:nvSpPr>
            <p:cNvPr name="AutoShape 3" id="3"/>
            <p:cNvSpPr/>
            <p:nvPr/>
          </p:nvSpPr>
          <p:spPr>
            <a:xfrm>
              <a:off x="483890" y="2311773"/>
              <a:ext cx="8454320" cy="0"/>
            </a:xfrm>
            <a:prstGeom prst="line">
              <a:avLst/>
            </a:prstGeom>
            <a:ln cap="flat" w="38100">
              <a:solidFill>
                <a:srgbClr val="000000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4" id="4"/>
            <p:cNvSpPr txBox="true"/>
            <p:nvPr/>
          </p:nvSpPr>
          <p:spPr>
            <a:xfrm rot="0">
              <a:off x="483890" y="28575"/>
              <a:ext cx="9161554" cy="12820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7410"/>
                </a:lnSpc>
              </a:pPr>
              <a:r>
                <a:rPr lang="en-US" b="true" sz="6500" spc="65">
                  <a:solidFill>
                    <a:srgbClr val="000000"/>
                  </a:solidFill>
                  <a:latin typeface="Pragmatica Bold"/>
                  <a:ea typeface="Pragmatica Bold"/>
                  <a:cs typeface="Pragmatica Bold"/>
                  <a:sym typeface="Pragmatica Bold"/>
                </a:rPr>
                <a:t>METODOLOGÍA</a:t>
              </a:r>
            </a:p>
          </p:txBody>
        </p:sp>
        <p:sp>
          <p:nvSpPr>
            <p:cNvPr name="TextBox 5" id="5"/>
            <p:cNvSpPr txBox="true"/>
            <p:nvPr/>
          </p:nvSpPr>
          <p:spPr>
            <a:xfrm rot="0">
              <a:off x="0" y="3847765"/>
              <a:ext cx="11038481" cy="686233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79"/>
                </a:lnSpc>
              </a:pPr>
              <a:r>
                <a:rPr lang="en-US" sz="2628">
                  <a:solidFill>
                    <a:srgbClr val="000000"/>
                  </a:solidFill>
                  <a:latin typeface="Pragmatica"/>
                  <a:ea typeface="Pragmatica"/>
                  <a:cs typeface="Pragmatica"/>
                  <a:sym typeface="Pragmatica"/>
                </a:rPr>
                <a:t>Marco ágil: Scrum puro distribuido </a:t>
              </a:r>
              <a:r>
                <a:rPr lang="en-US" sz="2628" u="none">
                  <a:solidFill>
                    <a:srgbClr val="000000"/>
                  </a:solidFill>
                  <a:latin typeface="Pragmatica"/>
                  <a:ea typeface="Pragmatica"/>
                  <a:cs typeface="Pragmatica"/>
                  <a:sym typeface="Pragmatica"/>
                </a:rPr>
                <a:t>en 7 sprints quincenales (14 semanas lectivas efectivas). </a:t>
              </a:r>
            </a:p>
            <a:p>
              <a:pPr algn="l">
                <a:lnSpc>
                  <a:spcPts val="3679"/>
                </a:lnSpc>
              </a:pPr>
            </a:p>
            <a:p>
              <a:pPr algn="l" marL="567400" indent="-283700" lvl="1">
                <a:lnSpc>
                  <a:spcPts val="3679"/>
                </a:lnSpc>
                <a:buFont typeface="Arial"/>
                <a:buChar char="•"/>
              </a:pPr>
              <a:r>
                <a:rPr lang="en-US" sz="2628" u="none">
                  <a:solidFill>
                    <a:srgbClr val="000000"/>
                  </a:solidFill>
                  <a:latin typeface="Pragmatica"/>
                  <a:ea typeface="Pragmatica"/>
                  <a:cs typeface="Pragmatica"/>
                  <a:sym typeface="Pragmatica"/>
                </a:rPr>
                <a:t>Sprints 0 al 2: Modelado relacion</a:t>
              </a:r>
              <a:r>
                <a:rPr lang="en-US" sz="2628" u="none">
                  <a:solidFill>
                    <a:srgbClr val="000000"/>
                  </a:solidFill>
                  <a:latin typeface="Pragmatica"/>
                  <a:ea typeface="Pragmatica"/>
                  <a:cs typeface="Pragmatica"/>
                  <a:sym typeface="Pragmatica"/>
                </a:rPr>
                <a:t>al, gestión b</a:t>
              </a:r>
              <a:r>
                <a:rPr lang="en-US" sz="2628" u="none">
                  <a:solidFill>
                    <a:srgbClr val="000000"/>
                  </a:solidFill>
                  <a:latin typeface="Pragmatica"/>
                  <a:ea typeface="Pragmatica"/>
                  <a:cs typeface="Pragmatica"/>
                  <a:sym typeface="Pragmatica"/>
                </a:rPr>
                <a:t>ase y MVP funcional de caja operativa. </a:t>
              </a:r>
            </a:p>
            <a:p>
              <a:pPr algn="l" marL="567400" indent="-283700" lvl="1">
                <a:lnSpc>
                  <a:spcPts val="3679"/>
                </a:lnSpc>
                <a:buFont typeface="Arial"/>
                <a:buChar char="•"/>
              </a:pPr>
              <a:r>
                <a:rPr lang="en-US" sz="2628" u="none">
                  <a:solidFill>
                    <a:srgbClr val="000000"/>
                  </a:solidFill>
                  <a:latin typeface="Pragmatica"/>
                  <a:ea typeface="Pragmatica"/>
                  <a:cs typeface="Pragmatica"/>
                  <a:sym typeface="Pragmatica"/>
                </a:rPr>
                <a:t>Sprints 3 al 5: Motor analítico y sincronización cloud. </a:t>
              </a:r>
            </a:p>
            <a:p>
              <a:pPr algn="l" marL="567400" indent="-283700" lvl="1">
                <a:lnSpc>
                  <a:spcPts val="3679"/>
                </a:lnSpc>
                <a:buFont typeface="Arial"/>
                <a:buChar char="•"/>
              </a:pPr>
              <a:r>
                <a:rPr lang="en-US" sz="2628" u="none">
                  <a:solidFill>
                    <a:srgbClr val="000000"/>
                  </a:solidFill>
                  <a:latin typeface="Pragmatica"/>
                  <a:ea typeface="Pragmatica"/>
                  <a:cs typeface="Pragmatica"/>
                  <a:sym typeface="Pragmatica"/>
                </a:rPr>
                <a:t>Sprints 6 y 7: Dashboard web móvil, testing y validación en terreno. </a:t>
              </a:r>
            </a:p>
            <a:p>
              <a:pPr algn="l">
                <a:lnSpc>
                  <a:spcPts val="3679"/>
                </a:lnSpc>
              </a:pPr>
            </a:p>
            <a:p>
              <a:pPr algn="l">
                <a:lnSpc>
                  <a:spcPts val="40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0" y="9258300"/>
            <a:ext cx="18288000" cy="1028700"/>
            <a:chOff x="0" y="0"/>
            <a:chExt cx="4816593" cy="270933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816592" cy="270933"/>
            </a:xfrm>
            <a:custGeom>
              <a:avLst/>
              <a:gdLst/>
              <a:ahLst/>
              <a:cxnLst/>
              <a:rect r="r" b="b" t="t" l="l"/>
              <a:pathLst>
                <a:path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28575"/>
              <a:ext cx="4816593" cy="2995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5193537" y="9589260"/>
            <a:ext cx="3094463" cy="366780"/>
            <a:chOff x="0" y="0"/>
            <a:chExt cx="4125951" cy="489041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562691" y="66593"/>
              <a:ext cx="3563260" cy="36537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165"/>
                </a:lnSpc>
              </a:pPr>
              <a:r>
                <a:rPr lang="en-US" b="true" sz="1899" spc="37">
                  <a:solidFill>
                    <a:srgbClr val="FFFFFF"/>
                  </a:solidFill>
                  <a:latin typeface="TT Interphases Bold"/>
                  <a:ea typeface="TT Interphases Bold"/>
                  <a:cs typeface="TT Interphases Bold"/>
                  <a:sym typeface="TT Interphases Bold"/>
                </a:rPr>
                <a:t>POS-Analytics</a:t>
              </a:r>
            </a:p>
          </p:txBody>
        </p:sp>
        <p:sp>
          <p:nvSpPr>
            <p:cNvPr name="Freeform 11" id="11"/>
            <p:cNvSpPr/>
            <p:nvPr/>
          </p:nvSpPr>
          <p:spPr>
            <a:xfrm flipH="false" flipV="false" rot="5400000">
              <a:off x="-39568" y="39568"/>
              <a:ext cx="489041" cy="409905"/>
            </a:xfrm>
            <a:custGeom>
              <a:avLst/>
              <a:gdLst/>
              <a:ahLst/>
              <a:cxnLst/>
              <a:rect r="r" b="b" t="t" l="l"/>
              <a:pathLst>
                <a:path h="409905" w="489041">
                  <a:moveTo>
                    <a:pt x="0" y="0"/>
                  </a:moveTo>
                  <a:lnTo>
                    <a:pt x="489041" y="0"/>
                  </a:lnTo>
                  <a:lnTo>
                    <a:pt x="489041" y="409905"/>
                  </a:lnTo>
                  <a:lnTo>
                    <a:pt x="0" y="409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2" id="12"/>
          <p:cNvSpPr/>
          <p:nvPr/>
        </p:nvSpPr>
        <p:spPr>
          <a:xfrm flipH="false" flipV="false" rot="0">
            <a:off x="9144000" y="2112040"/>
            <a:ext cx="8798843" cy="5865896"/>
          </a:xfrm>
          <a:custGeom>
            <a:avLst/>
            <a:gdLst/>
            <a:ahLst/>
            <a:cxnLst/>
            <a:rect r="r" b="b" t="t" l="l"/>
            <a:pathLst>
              <a:path h="5865896" w="8798843">
                <a:moveTo>
                  <a:pt x="0" y="0"/>
                </a:moveTo>
                <a:lnTo>
                  <a:pt x="8798843" y="0"/>
                </a:lnTo>
                <a:lnTo>
                  <a:pt x="8798843" y="5865896"/>
                </a:lnTo>
                <a:lnTo>
                  <a:pt x="0" y="586589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1335370"/>
            <a:ext cx="6910589" cy="2326465"/>
            <a:chOff x="0" y="0"/>
            <a:chExt cx="9214119" cy="3101954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28575"/>
              <a:ext cx="9158373" cy="12820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7410"/>
                </a:lnSpc>
              </a:pPr>
              <a:r>
                <a:rPr lang="en-US" b="true" sz="6500" spc="65">
                  <a:solidFill>
                    <a:srgbClr val="FFFFFF"/>
                  </a:solidFill>
                  <a:latin typeface="Pragmatica Bold"/>
                  <a:ea typeface="Pragmatica Bold"/>
                  <a:cs typeface="Pragmatica Bold"/>
                  <a:sym typeface="Pragmatica Bold"/>
                </a:rPr>
                <a:t>TECNOLOGÍAS</a:t>
              </a:r>
            </a:p>
          </p:txBody>
        </p:sp>
        <p:sp>
          <p:nvSpPr>
            <p:cNvPr name="AutoShape 4" id="4"/>
            <p:cNvSpPr/>
            <p:nvPr/>
          </p:nvSpPr>
          <p:spPr>
            <a:xfrm>
              <a:off x="0" y="1939480"/>
              <a:ext cx="9214119" cy="0"/>
            </a:xfrm>
            <a:prstGeom prst="line">
              <a:avLst/>
            </a:prstGeom>
            <a:ln cap="flat" w="38100">
              <a:solidFill>
                <a:srgbClr val="FFFFFF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5" id="5"/>
            <p:cNvSpPr txBox="true"/>
            <p:nvPr/>
          </p:nvSpPr>
          <p:spPr>
            <a:xfrm rot="0">
              <a:off x="0" y="2488755"/>
              <a:ext cx="9158373" cy="6131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920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9645001" y="1028700"/>
            <a:ext cx="2959542" cy="867280"/>
            <a:chOff x="0" y="0"/>
            <a:chExt cx="732102" cy="214539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32102" cy="214539"/>
            </a:xfrm>
            <a:custGeom>
              <a:avLst/>
              <a:gdLst/>
              <a:ahLst/>
              <a:cxnLst/>
              <a:rect r="r" b="b" t="t" l="l"/>
              <a:pathLst>
                <a:path h="214539" w="732102">
                  <a:moveTo>
                    <a:pt x="0" y="0"/>
                  </a:moveTo>
                  <a:lnTo>
                    <a:pt x="732102" y="0"/>
                  </a:lnTo>
                  <a:lnTo>
                    <a:pt x="732102" y="214539"/>
                  </a:lnTo>
                  <a:lnTo>
                    <a:pt x="0" y="214539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66675"/>
              <a:ext cx="732102" cy="2812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200"/>
                </a:lnSpc>
              </a:pPr>
              <a:r>
                <a:rPr lang="en-US" b="true" sz="3000">
                  <a:solidFill>
                    <a:srgbClr val="000000"/>
                  </a:solidFill>
                  <a:latin typeface="Pragmatica Bold"/>
                  <a:ea typeface="Pragmatica Bold"/>
                  <a:cs typeface="Pragmatica Bold"/>
                  <a:sym typeface="Pragmatica Bold"/>
                </a:rPr>
                <a:t>POS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645001" y="3144944"/>
            <a:ext cx="2959542" cy="867280"/>
            <a:chOff x="0" y="0"/>
            <a:chExt cx="732102" cy="21453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732102" cy="214539"/>
            </a:xfrm>
            <a:custGeom>
              <a:avLst/>
              <a:gdLst/>
              <a:ahLst/>
              <a:cxnLst/>
              <a:rect r="r" b="b" t="t" l="l"/>
              <a:pathLst>
                <a:path h="214539" w="732102">
                  <a:moveTo>
                    <a:pt x="0" y="0"/>
                  </a:moveTo>
                  <a:lnTo>
                    <a:pt x="732102" y="0"/>
                  </a:lnTo>
                  <a:lnTo>
                    <a:pt x="732102" y="214539"/>
                  </a:lnTo>
                  <a:lnTo>
                    <a:pt x="0" y="214539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66675"/>
              <a:ext cx="732102" cy="2812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200"/>
                </a:lnSpc>
              </a:pPr>
              <a:r>
                <a:rPr lang="en-US" b="true" sz="3000">
                  <a:solidFill>
                    <a:srgbClr val="000000"/>
                  </a:solidFill>
                  <a:latin typeface="Pragmatica Bold"/>
                  <a:ea typeface="Pragmatica Bold"/>
                  <a:cs typeface="Pragmatica Bold"/>
                  <a:sym typeface="Pragmatica Bold"/>
                </a:rPr>
                <a:t>DB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645001" y="5261189"/>
            <a:ext cx="2959542" cy="867280"/>
            <a:chOff x="0" y="0"/>
            <a:chExt cx="732102" cy="21453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32102" cy="214539"/>
            </a:xfrm>
            <a:custGeom>
              <a:avLst/>
              <a:gdLst/>
              <a:ahLst/>
              <a:cxnLst/>
              <a:rect r="r" b="b" t="t" l="l"/>
              <a:pathLst>
                <a:path h="214539" w="732102">
                  <a:moveTo>
                    <a:pt x="0" y="0"/>
                  </a:moveTo>
                  <a:lnTo>
                    <a:pt x="732102" y="0"/>
                  </a:lnTo>
                  <a:lnTo>
                    <a:pt x="732102" y="214539"/>
                  </a:lnTo>
                  <a:lnTo>
                    <a:pt x="0" y="214539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66675"/>
              <a:ext cx="732102" cy="2812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200"/>
                </a:lnSpc>
              </a:pPr>
              <a:r>
                <a:rPr lang="en-US" b="true" sz="3000">
                  <a:solidFill>
                    <a:srgbClr val="000000"/>
                  </a:solidFill>
                  <a:latin typeface="Pragmatica Bold"/>
                  <a:ea typeface="Pragmatica Bold"/>
                  <a:cs typeface="Pragmatica Bold"/>
                  <a:sym typeface="Pragmatica Bold"/>
                </a:rPr>
                <a:t>ANALITICA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9645001" y="7377433"/>
            <a:ext cx="2959542" cy="867280"/>
            <a:chOff x="0" y="0"/>
            <a:chExt cx="732102" cy="214539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32102" cy="214539"/>
            </a:xfrm>
            <a:custGeom>
              <a:avLst/>
              <a:gdLst/>
              <a:ahLst/>
              <a:cxnLst/>
              <a:rect r="r" b="b" t="t" l="l"/>
              <a:pathLst>
                <a:path h="214539" w="732102">
                  <a:moveTo>
                    <a:pt x="0" y="0"/>
                  </a:moveTo>
                  <a:lnTo>
                    <a:pt x="732102" y="0"/>
                  </a:lnTo>
                  <a:lnTo>
                    <a:pt x="732102" y="214539"/>
                  </a:lnTo>
                  <a:lnTo>
                    <a:pt x="0" y="214539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66675"/>
              <a:ext cx="732102" cy="2812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200"/>
                </a:lnSpc>
              </a:pPr>
              <a:r>
                <a:rPr lang="en-US" b="true" sz="3000">
                  <a:solidFill>
                    <a:srgbClr val="000000"/>
                  </a:solidFill>
                  <a:latin typeface="Pragmatica Bold"/>
                  <a:ea typeface="Pragmatica Bold"/>
                  <a:cs typeface="Pragmatica Bold"/>
                  <a:sym typeface="Pragmatica Bold"/>
                </a:rPr>
                <a:t>PWA</a:t>
              </a:r>
            </a:p>
          </p:txBody>
        </p:sp>
      </p:grpSp>
      <p:sp>
        <p:nvSpPr>
          <p:cNvPr name="AutoShape 18" id="18"/>
          <p:cNvSpPr/>
          <p:nvPr/>
        </p:nvSpPr>
        <p:spPr>
          <a:xfrm flipV="true">
            <a:off x="11124772" y="1895980"/>
            <a:ext cx="0" cy="1248965"/>
          </a:xfrm>
          <a:prstGeom prst="line">
            <a:avLst/>
          </a:prstGeom>
          <a:ln cap="flat" w="2857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9" id="19"/>
          <p:cNvSpPr/>
          <p:nvPr/>
        </p:nvSpPr>
        <p:spPr>
          <a:xfrm flipV="true">
            <a:off x="11124772" y="4012224"/>
            <a:ext cx="0" cy="1248965"/>
          </a:xfrm>
          <a:prstGeom prst="line">
            <a:avLst/>
          </a:prstGeom>
          <a:ln cap="flat" w="2857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20" id="20"/>
          <p:cNvSpPr/>
          <p:nvPr/>
        </p:nvSpPr>
        <p:spPr>
          <a:xfrm flipV="true">
            <a:off x="11124772" y="6128468"/>
            <a:ext cx="0" cy="1248965"/>
          </a:xfrm>
          <a:prstGeom prst="line">
            <a:avLst/>
          </a:prstGeom>
          <a:ln cap="flat" w="28575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21" id="21"/>
          <p:cNvGrpSpPr/>
          <p:nvPr/>
        </p:nvGrpSpPr>
        <p:grpSpPr>
          <a:xfrm rot="0">
            <a:off x="-163520" y="9258300"/>
            <a:ext cx="18615039" cy="1396619"/>
            <a:chOff x="0" y="0"/>
            <a:chExt cx="4902726" cy="367834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4902726" cy="367834"/>
            </a:xfrm>
            <a:custGeom>
              <a:avLst/>
              <a:gdLst/>
              <a:ahLst/>
              <a:cxnLst/>
              <a:rect r="r" b="b" t="t" l="l"/>
              <a:pathLst>
                <a:path h="367834" w="4902726">
                  <a:moveTo>
                    <a:pt x="0" y="0"/>
                  </a:moveTo>
                  <a:lnTo>
                    <a:pt x="4902726" y="0"/>
                  </a:lnTo>
                  <a:lnTo>
                    <a:pt x="4902726" y="367834"/>
                  </a:lnTo>
                  <a:lnTo>
                    <a:pt x="0" y="367834"/>
                  </a:lnTo>
                  <a:close/>
                </a:path>
              </a:pathLst>
            </a:custGeom>
            <a:solidFill>
              <a:srgbClr val="000000"/>
            </a:solidFill>
            <a:ln w="28575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28575"/>
              <a:ext cx="4902726" cy="3964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Freeform 24" id="24"/>
          <p:cNvSpPr/>
          <p:nvPr/>
        </p:nvSpPr>
        <p:spPr>
          <a:xfrm flipH="false" flipV="false" rot="0">
            <a:off x="1204583" y="4740687"/>
            <a:ext cx="1565383" cy="1565383"/>
          </a:xfrm>
          <a:custGeom>
            <a:avLst/>
            <a:gdLst/>
            <a:ahLst/>
            <a:cxnLst/>
            <a:rect r="r" b="b" t="t" l="l"/>
            <a:pathLst>
              <a:path h="1565383" w="1565383">
                <a:moveTo>
                  <a:pt x="0" y="0"/>
                </a:moveTo>
                <a:lnTo>
                  <a:pt x="1565383" y="0"/>
                </a:lnTo>
                <a:lnTo>
                  <a:pt x="1565383" y="1565383"/>
                </a:lnTo>
                <a:lnTo>
                  <a:pt x="0" y="156538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3593553" y="4989068"/>
            <a:ext cx="2257966" cy="2257966"/>
          </a:xfrm>
          <a:custGeom>
            <a:avLst/>
            <a:gdLst/>
            <a:ahLst/>
            <a:cxnLst/>
            <a:rect r="r" b="b" t="t" l="l"/>
            <a:pathLst>
              <a:path h="2257966" w="2257966">
                <a:moveTo>
                  <a:pt x="0" y="0"/>
                </a:moveTo>
                <a:lnTo>
                  <a:pt x="2257966" y="0"/>
                </a:lnTo>
                <a:lnTo>
                  <a:pt x="2257966" y="2257967"/>
                </a:lnTo>
                <a:lnTo>
                  <a:pt x="0" y="225796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2769966" y="3614015"/>
            <a:ext cx="1647173" cy="1647173"/>
          </a:xfrm>
          <a:custGeom>
            <a:avLst/>
            <a:gdLst/>
            <a:ahLst/>
            <a:cxnLst/>
            <a:rect r="r" b="b" t="t" l="l"/>
            <a:pathLst>
              <a:path h="1647173" w="1647173">
                <a:moveTo>
                  <a:pt x="0" y="0"/>
                </a:moveTo>
                <a:lnTo>
                  <a:pt x="1647173" y="0"/>
                </a:lnTo>
                <a:lnTo>
                  <a:pt x="1647173" y="1647174"/>
                </a:lnTo>
                <a:lnTo>
                  <a:pt x="0" y="16471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5361274" y="4235129"/>
            <a:ext cx="2347709" cy="753939"/>
          </a:xfrm>
          <a:custGeom>
            <a:avLst/>
            <a:gdLst/>
            <a:ahLst/>
            <a:cxnLst/>
            <a:rect r="r" b="b" t="t" l="l"/>
            <a:pathLst>
              <a:path h="753939" w="2347709">
                <a:moveTo>
                  <a:pt x="0" y="0"/>
                </a:moveTo>
                <a:lnTo>
                  <a:pt x="2347710" y="0"/>
                </a:lnTo>
                <a:lnTo>
                  <a:pt x="2347710" y="753939"/>
                </a:lnTo>
                <a:lnTo>
                  <a:pt x="0" y="7539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5546122" y="5869670"/>
            <a:ext cx="2162861" cy="2162861"/>
          </a:xfrm>
          <a:custGeom>
            <a:avLst/>
            <a:gdLst/>
            <a:ahLst/>
            <a:cxnLst/>
            <a:rect r="r" b="b" t="t" l="l"/>
            <a:pathLst>
              <a:path h="2162861" w="2162861">
                <a:moveTo>
                  <a:pt x="0" y="0"/>
                </a:moveTo>
                <a:lnTo>
                  <a:pt x="2162862" y="0"/>
                </a:lnTo>
                <a:lnTo>
                  <a:pt x="2162862" y="2162861"/>
                </a:lnTo>
                <a:lnTo>
                  <a:pt x="0" y="216286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1907987" y="6385046"/>
            <a:ext cx="2509153" cy="2509153"/>
          </a:xfrm>
          <a:custGeom>
            <a:avLst/>
            <a:gdLst/>
            <a:ahLst/>
            <a:cxnLst/>
            <a:rect r="r" b="b" t="t" l="l"/>
            <a:pathLst>
              <a:path h="2509153" w="2509153">
                <a:moveTo>
                  <a:pt x="0" y="0"/>
                </a:moveTo>
                <a:lnTo>
                  <a:pt x="2509152" y="0"/>
                </a:lnTo>
                <a:lnTo>
                  <a:pt x="2509152" y="2509153"/>
                </a:lnTo>
                <a:lnTo>
                  <a:pt x="0" y="25091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30" id="30"/>
          <p:cNvSpPr txBox="true"/>
          <p:nvPr/>
        </p:nvSpPr>
        <p:spPr>
          <a:xfrm rot="0">
            <a:off x="13643807" y="7459029"/>
            <a:ext cx="3682168" cy="3611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6"/>
              </a:lnSpc>
            </a:pPr>
            <a:r>
              <a:rPr lang="en-US" sz="2400" spc="24">
                <a:solidFill>
                  <a:srgbClr val="FFFFFF"/>
                </a:solidFill>
                <a:latin typeface="TT Interphases"/>
                <a:ea typeface="TT Interphases"/>
                <a:cs typeface="TT Interphases"/>
                <a:sym typeface="TT Interphases"/>
              </a:rPr>
              <a:t>N</a:t>
            </a:r>
            <a:r>
              <a:rPr lang="en-US" sz="2400" spc="24">
                <a:solidFill>
                  <a:srgbClr val="FFFFFF"/>
                </a:solidFill>
                <a:latin typeface="TT Interphases"/>
                <a:ea typeface="TT Interphases"/>
                <a:cs typeface="TT Interphases"/>
                <a:sym typeface="TT Interphases"/>
              </a:rPr>
              <a:t>ext.js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3643807" y="5342784"/>
            <a:ext cx="3682168" cy="3611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6"/>
              </a:lnSpc>
            </a:pPr>
            <a:r>
              <a:rPr lang="en-US" sz="2400" spc="24">
                <a:solidFill>
                  <a:srgbClr val="FFFFFF"/>
                </a:solidFill>
                <a:latin typeface="TT Interphases"/>
                <a:ea typeface="TT Interphases"/>
                <a:cs typeface="TT Interphases"/>
                <a:sym typeface="TT Interphases"/>
              </a:rPr>
              <a:t>N</a:t>
            </a:r>
            <a:r>
              <a:rPr lang="en-US" sz="2400" spc="24">
                <a:solidFill>
                  <a:srgbClr val="FFFFFF"/>
                </a:solidFill>
                <a:latin typeface="TT Interphases"/>
                <a:ea typeface="TT Interphases"/>
                <a:cs typeface="TT Interphases"/>
                <a:sym typeface="TT Interphases"/>
              </a:rPr>
              <a:t>ode.js, TypeScript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3643807" y="3226540"/>
            <a:ext cx="3682168" cy="3611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6"/>
              </a:lnSpc>
            </a:pPr>
            <a:r>
              <a:rPr lang="en-US" sz="2400" spc="24">
                <a:solidFill>
                  <a:srgbClr val="FFFFFF"/>
                </a:solidFill>
                <a:latin typeface="TT Interphases"/>
                <a:ea typeface="TT Interphases"/>
                <a:cs typeface="TT Interphases"/>
                <a:sym typeface="TT Interphases"/>
              </a:rPr>
              <a:t>SQL</a:t>
            </a:r>
            <a:r>
              <a:rPr lang="en-US" sz="2400" spc="24">
                <a:solidFill>
                  <a:srgbClr val="FFFFFF"/>
                </a:solidFill>
                <a:latin typeface="TT Interphases"/>
                <a:ea typeface="TT Interphases"/>
                <a:cs typeface="TT Interphases"/>
                <a:sym typeface="TT Interphases"/>
              </a:rPr>
              <a:t>ite, PostgreSQL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3643807" y="1110296"/>
            <a:ext cx="3682168" cy="7040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6"/>
              </a:lnSpc>
            </a:pPr>
            <a:r>
              <a:rPr lang="en-US" sz="2400" spc="24">
                <a:solidFill>
                  <a:srgbClr val="FFFFFF"/>
                </a:solidFill>
                <a:latin typeface="TT Interphases"/>
                <a:ea typeface="TT Interphases"/>
                <a:cs typeface="TT Interphases"/>
                <a:sym typeface="TT Interphases"/>
              </a:rPr>
              <a:t>Electron, React.js, TypeScript,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15193537" y="9589260"/>
            <a:ext cx="3094463" cy="366780"/>
            <a:chOff x="0" y="0"/>
            <a:chExt cx="4125951" cy="489041"/>
          </a:xfrm>
        </p:grpSpPr>
        <p:sp>
          <p:nvSpPr>
            <p:cNvPr name="TextBox 35" id="35"/>
            <p:cNvSpPr txBox="true"/>
            <p:nvPr/>
          </p:nvSpPr>
          <p:spPr>
            <a:xfrm rot="0">
              <a:off x="562691" y="66593"/>
              <a:ext cx="3563260" cy="36537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165"/>
                </a:lnSpc>
              </a:pPr>
              <a:r>
                <a:rPr lang="en-US" b="true" sz="1899" spc="37">
                  <a:solidFill>
                    <a:srgbClr val="FFFFFF"/>
                  </a:solidFill>
                  <a:latin typeface="TT Interphases Bold"/>
                  <a:ea typeface="TT Interphases Bold"/>
                  <a:cs typeface="TT Interphases Bold"/>
                  <a:sym typeface="TT Interphases Bold"/>
                </a:rPr>
                <a:t>POS-Analytics</a:t>
              </a:r>
            </a:p>
          </p:txBody>
        </p:sp>
        <p:sp>
          <p:nvSpPr>
            <p:cNvPr name="Freeform 36" id="36"/>
            <p:cNvSpPr/>
            <p:nvPr/>
          </p:nvSpPr>
          <p:spPr>
            <a:xfrm flipH="false" flipV="false" rot="5400000">
              <a:off x="-39568" y="39568"/>
              <a:ext cx="489041" cy="409905"/>
            </a:xfrm>
            <a:custGeom>
              <a:avLst/>
              <a:gdLst/>
              <a:ahLst/>
              <a:cxnLst/>
              <a:rect r="r" b="b" t="t" l="l"/>
              <a:pathLst>
                <a:path h="409905" w="489041">
                  <a:moveTo>
                    <a:pt x="0" y="0"/>
                  </a:moveTo>
                  <a:lnTo>
                    <a:pt x="489041" y="0"/>
                  </a:lnTo>
                  <a:lnTo>
                    <a:pt x="489041" y="409905"/>
                  </a:lnTo>
                  <a:lnTo>
                    <a:pt x="0" y="409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>
            <a:off x="1028700" y="2984242"/>
            <a:ext cx="16230600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0" y="9258300"/>
            <a:ext cx="18288000" cy="1028700"/>
            <a:chOff x="0" y="0"/>
            <a:chExt cx="4816593" cy="27093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816592" cy="270933"/>
            </a:xfrm>
            <a:custGeom>
              <a:avLst/>
              <a:gdLst/>
              <a:ahLst/>
              <a:cxnLst/>
              <a:rect r="r" b="b" t="t" l="l"/>
              <a:pathLst>
                <a:path h="270933" w="4816592">
                  <a:moveTo>
                    <a:pt x="0" y="0"/>
                  </a:moveTo>
                  <a:lnTo>
                    <a:pt x="4816592" y="0"/>
                  </a:lnTo>
                  <a:lnTo>
                    <a:pt x="4816592" y="270933"/>
                  </a:lnTo>
                  <a:lnTo>
                    <a:pt x="0" y="27093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28575"/>
              <a:ext cx="4816593" cy="29950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028700" y="3846916"/>
            <a:ext cx="16230600" cy="3070289"/>
          </a:xfrm>
          <a:custGeom>
            <a:avLst/>
            <a:gdLst/>
            <a:ahLst/>
            <a:cxnLst/>
            <a:rect r="r" b="b" t="t" l="l"/>
            <a:pathLst>
              <a:path h="3070289" w="16230600">
                <a:moveTo>
                  <a:pt x="0" y="0"/>
                </a:moveTo>
                <a:lnTo>
                  <a:pt x="16230600" y="0"/>
                </a:lnTo>
                <a:lnTo>
                  <a:pt x="16230600" y="3070288"/>
                </a:lnTo>
                <a:lnTo>
                  <a:pt x="0" y="307028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1028700" y="1363945"/>
            <a:ext cx="12420299" cy="954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7410"/>
              </a:lnSpc>
            </a:pPr>
            <a:r>
              <a:rPr lang="en-US" b="true" sz="6500" spc="65">
                <a:solidFill>
                  <a:srgbClr val="000000"/>
                </a:solidFill>
                <a:latin typeface="Pragmatica Bold"/>
                <a:ea typeface="Pragmatica Bold"/>
                <a:cs typeface="Pragmatica Bold"/>
                <a:sym typeface="Pragmatica Bold"/>
              </a:rPr>
              <a:t>CRONOGRAMA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3448999" y="1287745"/>
            <a:ext cx="3810301" cy="4718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20"/>
              </a:lnSpc>
            </a:pPr>
            <a:r>
              <a:rPr lang="en-US" sz="2800">
                <a:solidFill>
                  <a:srgbClr val="000000"/>
                </a:solidFill>
                <a:latin typeface="Pragmatica"/>
                <a:ea typeface="Pragmatica"/>
                <a:cs typeface="Pragmatica"/>
                <a:sym typeface="Pragmatica"/>
              </a:rPr>
              <a:t>sprints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15193537" y="9589260"/>
            <a:ext cx="3094463" cy="366780"/>
            <a:chOff x="0" y="0"/>
            <a:chExt cx="4125951" cy="489041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562691" y="66593"/>
              <a:ext cx="3563260" cy="36537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165"/>
                </a:lnSpc>
              </a:pPr>
              <a:r>
                <a:rPr lang="en-US" b="true" sz="1899" spc="37">
                  <a:solidFill>
                    <a:srgbClr val="FFFFFF"/>
                  </a:solidFill>
                  <a:latin typeface="TT Interphases Bold"/>
                  <a:ea typeface="TT Interphases Bold"/>
                  <a:cs typeface="TT Interphases Bold"/>
                  <a:sym typeface="TT Interphases Bold"/>
                </a:rPr>
                <a:t>POS-Analytics</a:t>
              </a:r>
            </a:p>
          </p:txBody>
        </p:sp>
        <p:sp>
          <p:nvSpPr>
            <p:cNvPr name="Freeform 11" id="11"/>
            <p:cNvSpPr/>
            <p:nvPr/>
          </p:nvSpPr>
          <p:spPr>
            <a:xfrm flipH="false" flipV="false" rot="5400000">
              <a:off x="-39568" y="39568"/>
              <a:ext cx="489041" cy="409905"/>
            </a:xfrm>
            <a:custGeom>
              <a:avLst/>
              <a:gdLst/>
              <a:ahLst/>
              <a:cxnLst/>
              <a:rect r="r" b="b" t="t" l="l"/>
              <a:pathLst>
                <a:path h="409905" w="489041">
                  <a:moveTo>
                    <a:pt x="0" y="0"/>
                  </a:moveTo>
                  <a:lnTo>
                    <a:pt x="489041" y="0"/>
                  </a:lnTo>
                  <a:lnTo>
                    <a:pt x="489041" y="409905"/>
                  </a:lnTo>
                  <a:lnTo>
                    <a:pt x="0" y="409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1649271"/>
            <a:ext cx="7291728" cy="1449276"/>
            <a:chOff x="0" y="0"/>
            <a:chExt cx="9722303" cy="1932368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28575"/>
              <a:ext cx="9722303" cy="12820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7410"/>
                </a:lnSpc>
              </a:pPr>
              <a:r>
                <a:rPr lang="en-US" b="true" sz="6500" spc="65">
                  <a:solidFill>
                    <a:srgbClr val="FFFFFF"/>
                  </a:solidFill>
                  <a:latin typeface="Pragmatica Bold"/>
                  <a:ea typeface="Pragmatica Bold"/>
                  <a:cs typeface="Pragmatica Bold"/>
                  <a:sym typeface="Pragmatica Bold"/>
                </a:rPr>
                <a:t>CONCLUSIÓN</a:t>
              </a:r>
            </a:p>
          </p:txBody>
        </p:sp>
        <p:sp>
          <p:nvSpPr>
            <p:cNvPr name="AutoShape 4" id="4"/>
            <p:cNvSpPr/>
            <p:nvPr/>
          </p:nvSpPr>
          <p:spPr>
            <a:xfrm>
              <a:off x="0" y="1913318"/>
              <a:ext cx="9722303" cy="0"/>
            </a:xfrm>
            <a:prstGeom prst="line">
              <a:avLst/>
            </a:prstGeom>
            <a:ln cap="flat" w="38100">
              <a:solidFill>
                <a:srgbClr val="FFFFFF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5" id="5"/>
          <p:cNvGrpSpPr/>
          <p:nvPr/>
        </p:nvGrpSpPr>
        <p:grpSpPr>
          <a:xfrm rot="0">
            <a:off x="10898520" y="0"/>
            <a:ext cx="7389480" cy="5465355"/>
            <a:chOff x="0" y="0"/>
            <a:chExt cx="9852641" cy="7287139"/>
          </a:xfrm>
        </p:grpSpPr>
        <p:pic>
          <p:nvPicPr>
            <p:cNvPr name="Picture 6" id="6"/>
            <p:cNvPicPr>
              <a:picLocks noChangeAspect="true"/>
            </p:cNvPicPr>
            <p:nvPr/>
          </p:nvPicPr>
          <p:blipFill>
            <a:blip r:embed="rId2"/>
            <a:srcRect l="4931" t="0" r="4931" b="0"/>
            <a:stretch>
              <a:fillRect/>
            </a:stretch>
          </p:blipFill>
          <p:spPr>
            <a:xfrm flipH="false" flipV="false">
              <a:off x="0" y="0"/>
              <a:ext cx="9852641" cy="7287139"/>
            </a:xfrm>
            <a:prstGeom prst="rect">
              <a:avLst/>
            </a:prstGeom>
          </p:spPr>
        </p:pic>
      </p:grpSp>
      <p:grpSp>
        <p:nvGrpSpPr>
          <p:cNvPr name="Group 7" id="7"/>
          <p:cNvGrpSpPr/>
          <p:nvPr/>
        </p:nvGrpSpPr>
        <p:grpSpPr>
          <a:xfrm rot="0">
            <a:off x="0" y="5980554"/>
            <a:ext cx="10304736" cy="4306446"/>
            <a:chOff x="0" y="0"/>
            <a:chExt cx="13739649" cy="5741928"/>
          </a:xfrm>
        </p:grpSpPr>
        <p:pic>
          <p:nvPicPr>
            <p:cNvPr name="Picture 8" id="8"/>
            <p:cNvPicPr>
              <a:picLocks noChangeAspect="true"/>
            </p:cNvPicPr>
            <p:nvPr/>
          </p:nvPicPr>
          <p:blipFill>
            <a:blip r:embed="rId3"/>
            <a:srcRect l="0" t="9960" r="0" b="9960"/>
            <a:stretch>
              <a:fillRect/>
            </a:stretch>
          </p:blipFill>
          <p:spPr>
            <a:xfrm flipH="false" flipV="false">
              <a:off x="0" y="0"/>
              <a:ext cx="13739649" cy="5741928"/>
            </a:xfrm>
            <a:prstGeom prst="rect">
              <a:avLst/>
            </a:prstGeom>
          </p:spPr>
        </p:pic>
      </p:grpSp>
      <p:grpSp>
        <p:nvGrpSpPr>
          <p:cNvPr name="Group 9" id="9"/>
          <p:cNvGrpSpPr/>
          <p:nvPr/>
        </p:nvGrpSpPr>
        <p:grpSpPr>
          <a:xfrm rot="0">
            <a:off x="10898520" y="5980554"/>
            <a:ext cx="7389480" cy="4306446"/>
            <a:chOff x="0" y="0"/>
            <a:chExt cx="9852641" cy="5741928"/>
          </a:xfrm>
        </p:grpSpPr>
        <p:pic>
          <p:nvPicPr>
            <p:cNvPr name="Picture 10" id="10"/>
            <p:cNvPicPr>
              <a:picLocks noChangeAspect="true"/>
            </p:cNvPicPr>
            <p:nvPr/>
          </p:nvPicPr>
          <p:blipFill>
            <a:blip r:embed="rId4"/>
            <a:srcRect l="0" t="6291" r="0" b="6291"/>
            <a:stretch>
              <a:fillRect/>
            </a:stretch>
          </p:blipFill>
          <p:spPr>
            <a:xfrm flipH="false" flipV="false">
              <a:off x="0" y="0"/>
              <a:ext cx="9852641" cy="5741928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8000" cy="3670604"/>
            <a:chOff x="0" y="0"/>
            <a:chExt cx="24384000" cy="4894138"/>
          </a:xfrm>
        </p:grpSpPr>
        <p:pic>
          <p:nvPicPr>
            <p:cNvPr name="Picture 3" id="3"/>
            <p:cNvPicPr>
              <a:picLocks noChangeAspect="true"/>
            </p:cNvPicPr>
            <p:nvPr/>
          </p:nvPicPr>
          <p:blipFill>
            <a:blip r:embed="rId2"/>
            <a:srcRect l="0" t="33044" r="0" b="33044"/>
            <a:stretch>
              <a:fillRect/>
            </a:stretch>
          </p:blipFill>
          <p:spPr>
            <a:xfrm flipH="false" flipV="false">
              <a:off x="0" y="0"/>
              <a:ext cx="24384000" cy="4894138"/>
            </a:xfrm>
            <a:prstGeom prst="rect">
              <a:avLst/>
            </a:prstGeom>
          </p:spPr>
        </p:pic>
      </p:grpSp>
      <p:grpSp>
        <p:nvGrpSpPr>
          <p:cNvPr name="Group 4" id="4"/>
          <p:cNvGrpSpPr/>
          <p:nvPr/>
        </p:nvGrpSpPr>
        <p:grpSpPr>
          <a:xfrm rot="0">
            <a:off x="6477616" y="5951655"/>
            <a:ext cx="7812715" cy="1407163"/>
            <a:chOff x="0" y="0"/>
            <a:chExt cx="10416953" cy="1876218"/>
          </a:xfrm>
        </p:grpSpPr>
        <p:sp>
          <p:nvSpPr>
            <p:cNvPr name="TextBox 5" id="5"/>
            <p:cNvSpPr txBox="true"/>
            <p:nvPr/>
          </p:nvSpPr>
          <p:spPr>
            <a:xfrm rot="0">
              <a:off x="0" y="28575"/>
              <a:ext cx="10416953" cy="12820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7410"/>
                </a:lnSpc>
              </a:pPr>
              <a:r>
                <a:rPr lang="en-US" b="true" sz="6500" spc="65">
                  <a:solidFill>
                    <a:srgbClr val="FFFFFF"/>
                  </a:solidFill>
                  <a:latin typeface="Pragmatica Bold"/>
                  <a:ea typeface="Pragmatica Bold"/>
                  <a:cs typeface="Pragmatica Bold"/>
                  <a:sym typeface="Pragmatica Bold"/>
                </a:rPr>
                <a:t>PREGUNTAS</a:t>
              </a:r>
            </a:p>
          </p:txBody>
        </p:sp>
        <p:sp>
          <p:nvSpPr>
            <p:cNvPr name="AutoShape 6" id="6"/>
            <p:cNvSpPr/>
            <p:nvPr/>
          </p:nvSpPr>
          <p:spPr>
            <a:xfrm>
              <a:off x="0" y="1850818"/>
              <a:ext cx="10416953" cy="0"/>
            </a:xfrm>
            <a:prstGeom prst="line">
              <a:avLst/>
            </a:prstGeom>
            <a:ln cap="flat" w="50800">
              <a:solidFill>
                <a:srgbClr val="FFFFFF"/>
              </a:solidFill>
              <a:prstDash val="solid"/>
              <a:headEnd type="none" len="sm" w="sm"/>
              <a:tailEnd type="none" len="sm" w="sm"/>
            </a:ln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DAHUm_BDHqY</dc:identifier>
  <dcterms:modified xsi:type="dcterms:W3CDTF">2011-08-01T06:04:30Z</dcterms:modified>
  <cp:revision>1</cp:revision>
  <dc:title>Negro y Blanco Corporativo Simple y Oscuro Propuesta de Proyecto Presentación de negocios</dc:title>
</cp:coreProperties>
</file>