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EE42E6-341F-66B5-9670-571DFD9D82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E8478-EBE4-33D4-6831-00BFB73780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750607-E1BD-A989-00B7-8D5F7654E8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BF237E-6CF9-BAC7-0059-7B9B45F279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E1FACF-21D8-5EB0-E7E8-1D97F92A42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81FF65-E102-5DA3-6584-D631CAAB47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C516FB-DAE7-AB70-B198-DA09888F93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756CE9-5C49-6CE5-8F80-8BADD733AB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D8C4FE-D7B7-BE53-2C87-D694E967F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C9315E-FB9A-308E-1883-03AAF5C7DB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4AD631-F727-C03F-E6AD-C0D6DA5B00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68D554-1B29-90FB-D27A-47DE23798B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36288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863745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665387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956787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66403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2468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1263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08968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255683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66634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29979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78158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25664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49973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28993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0206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814865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39976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2856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41467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14014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4246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72767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90213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002125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216341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26810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0423549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67095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5184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711016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473784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817702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3929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0500551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545558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48100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628967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41077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85467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376800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3449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02035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94742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7923419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528924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560260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38602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9907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64581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94379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51673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97423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71820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899533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95853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79852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1751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2789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60410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912093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2238070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98508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media1.svg"/><Relationship Id="rId6" Type="http://schemas.openxmlformats.org/officeDocument/2006/relationships/image" Target="../media/image3.png"/><Relationship Id="rId7" Type="http://schemas.openxmlformats.org/officeDocument/2006/relationships/image" Target="../media/media2.svg"/><Relationship Id="rId8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9168923" name="Group 2"/>
          <p:cNvGrpSpPr/>
          <p:nvPr/>
        </p:nvGrpSpPr>
        <p:grpSpPr bwMode="auto">
          <a:xfrm rot="0">
            <a:off x="0" y="0"/>
            <a:ext cx="18288000" cy="3578708"/>
            <a:chOff x="0" y="0"/>
            <a:chExt cx="24384000" cy="477161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3"/>
            <a:srcRect l="0" t="32552" r="0" b="32552"/>
            <a:stretch/>
          </p:blipFill>
          <p:spPr bwMode="auto">
            <a:xfrm flipH="0" flipV="0">
              <a:off x="0" y="0"/>
              <a:ext cx="24384000" cy="4771611"/>
            </a:xfrm>
            <a:prstGeom prst="rect">
              <a:avLst/>
            </a:prstGeom>
          </p:spPr>
        </p:pic>
      </p:grpSp>
      <p:grpSp>
        <p:nvGrpSpPr>
          <p:cNvPr id="1249591514" name="Group 4"/>
          <p:cNvGrpSpPr/>
          <p:nvPr/>
        </p:nvGrpSpPr>
        <p:grpSpPr bwMode="auto">
          <a:xfrm rot="0">
            <a:off x="1028700" y="-486707"/>
            <a:ext cx="1944202" cy="2820613"/>
            <a:chOff x="0" y="0"/>
            <a:chExt cx="2592269" cy="3760818"/>
          </a:xfrm>
        </p:grpSpPr>
        <p:sp>
          <p:nvSpPr>
            <p:cNvPr id="5" name="AutoShape 5"/>
            <p:cNvSpPr/>
            <p:nvPr/>
          </p:nvSpPr>
          <p:spPr bwMode="auto">
            <a:xfrm rot="0">
              <a:off x="0" y="0"/>
              <a:ext cx="2592269" cy="3760818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6" name="Freeform 6"/>
            <p:cNvSpPr/>
            <p:nvPr/>
          </p:nvSpPr>
          <p:spPr bwMode="auto">
            <a:xfrm rot="5400000" flipH="0" flipV="0">
              <a:off x="805592" y="1006820"/>
              <a:ext cx="981085" cy="822328"/>
            </a:xfrm>
            <a:custGeom>
              <a:avLst/>
              <a:gdLst/>
              <a:ahLst/>
              <a:cxnLst/>
              <a:rect l="l" t="t" r="r" b="b"/>
              <a:pathLst>
                <a:path w="981085" h="822328" fill="norm" stroke="1" extrusionOk="0">
                  <a:moveTo>
                    <a:pt x="0" y="0"/>
                  </a:moveTo>
                  <a:lnTo>
                    <a:pt x="981085" y="0"/>
                  </a:lnTo>
                  <a:lnTo>
                    <a:pt x="981085" y="822327"/>
                  </a:lnTo>
                  <a:lnTo>
                    <a:pt x="0" y="8223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0" r="0" b="0"/>
              </a:stretch>
            </a:blipFill>
          </p:spPr>
        </p:sp>
      </p:grpSp>
      <p:sp>
        <p:nvSpPr>
          <p:cNvPr id="1366656823" name="Freeform 7"/>
          <p:cNvSpPr/>
          <p:nvPr/>
        </p:nvSpPr>
        <p:spPr bwMode="auto">
          <a:xfrm rot="0" flipH="0" flipV="0">
            <a:off x="14206570" y="9014118"/>
            <a:ext cx="223817" cy="223817"/>
          </a:xfrm>
          <a:custGeom>
            <a:avLst/>
            <a:gdLst/>
            <a:ahLst/>
            <a:cxnLst/>
            <a:rect l="l" t="t" r="r" b="b"/>
            <a:pathLst>
              <a:path w="223817" h="223817" fill="norm" stroke="1" extrusionOk="0">
                <a:moveTo>
                  <a:pt x="0" y="0"/>
                </a:moveTo>
                <a:lnTo>
                  <a:pt x="223817" y="0"/>
                </a:lnTo>
                <a:lnTo>
                  <a:pt x="223817" y="223817"/>
                </a:lnTo>
                <a:lnTo>
                  <a:pt x="0" y="223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2019735236" name="AutoShape 8"/>
          <p:cNvSpPr/>
          <p:nvPr/>
        </p:nvSpPr>
        <p:spPr bwMode="auto">
          <a:xfrm rot="0">
            <a:off x="1028700" y="8188476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80753036" name="Freeform 9"/>
          <p:cNvSpPr/>
          <p:nvPr/>
        </p:nvSpPr>
        <p:spPr bwMode="auto">
          <a:xfrm rot="0" flipH="0" flipV="0">
            <a:off x="1106124" y="134023"/>
            <a:ext cx="1789354" cy="1966163"/>
          </a:xfrm>
          <a:custGeom>
            <a:avLst/>
            <a:gdLst/>
            <a:ahLst/>
            <a:cxnLst/>
            <a:rect l="l" t="t" r="r" b="b"/>
            <a:pathLst>
              <a:path w="1789354" h="1966163" fill="norm" stroke="1" extrusionOk="0">
                <a:moveTo>
                  <a:pt x="0" y="0"/>
                </a:moveTo>
                <a:lnTo>
                  <a:pt x="1789354" y="0"/>
                </a:lnTo>
                <a:lnTo>
                  <a:pt x="1789354" y="1966163"/>
                </a:lnTo>
                <a:lnTo>
                  <a:pt x="0" y="1966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-4940" t="0" r="-4939" b="0"/>
            </a:stretch>
          </a:blipFill>
        </p:spPr>
      </p:sp>
      <p:grpSp>
        <p:nvGrpSpPr>
          <p:cNvPr id="963811268" name="Group 10"/>
          <p:cNvGrpSpPr/>
          <p:nvPr/>
        </p:nvGrpSpPr>
        <p:grpSpPr bwMode="auto">
          <a:xfrm rot="0">
            <a:off x="1028700" y="4189858"/>
            <a:ext cx="16230600" cy="3827168"/>
            <a:chOff x="0" y="0"/>
            <a:chExt cx="21640800" cy="5102891"/>
          </a:xfrm>
        </p:grpSpPr>
        <p:sp>
          <p:nvSpPr>
            <p:cNvPr id="11" name="TextBox 11"/>
            <p:cNvSpPr txBox="1"/>
            <p:nvPr/>
          </p:nvSpPr>
          <p:spPr bwMode="auto">
            <a:xfrm rot="0">
              <a:off x="0" y="57150"/>
              <a:ext cx="21640800" cy="38016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70"/>
                </a:lnSpc>
                <a:defRPr/>
              </a:pPr>
              <a:r>
                <a:rPr lang="en-US" sz="9800" b="1" spc="97">
                  <a:solidFill>
                    <a:srgbClr val="FFFFFF"/>
                  </a:solidFill>
                  <a:latin typeface="Pragmatica Bold"/>
                  <a:ea typeface="Pragmatica Bold"/>
                  <a:cs typeface="Pragmatica Bold"/>
                </a:rPr>
                <a:t>CAPSTONE</a:t>
              </a:r>
              <a:endParaRPr/>
            </a:p>
            <a:p>
              <a:pPr marL="0" lvl="0" indent="0" algn="l">
                <a:lnSpc>
                  <a:spcPts val="11170"/>
                </a:lnSpc>
                <a:defRPr/>
              </a:pPr>
              <a:r>
                <a:rPr lang="en-US" sz="9800" b="1" spc="97">
                  <a:solidFill>
                    <a:srgbClr val="FFFFFF"/>
                  </a:solidFill>
                  <a:latin typeface="Pragmatica Bold"/>
                  <a:ea typeface="Pragmatica Bold"/>
                  <a:cs typeface="Pragmatica Bold"/>
                </a:rPr>
                <a:t>POS - ANALYTICS</a:t>
              </a:r>
              <a:endParaRPr/>
            </a:p>
          </p:txBody>
        </p:sp>
        <p:sp>
          <p:nvSpPr>
            <p:cNvPr id="12" name="TextBox 12"/>
            <p:cNvSpPr txBox="1"/>
            <p:nvPr/>
          </p:nvSpPr>
          <p:spPr bwMode="auto">
            <a:xfrm rot="0">
              <a:off x="0" y="4017168"/>
              <a:ext cx="19539964" cy="10857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1"/>
                </a:lnSpc>
                <a:defRPr/>
              </a:pPr>
              <a:r>
                <a:rPr lang="en-US" sz="2800" spc="55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</a:rPr>
                <a:t>Plataforma Híb</a:t>
              </a:r>
              <a:r>
                <a:rPr lang="en-US" sz="2800" spc="55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</a:rPr>
                <a:t>rida de Punto de Venta con Motor de Minería de Datos Local y Sincronización Cloud para Gestión y Analítica Remota en Comercio Minorista</a:t>
              </a:r>
              <a:endParaRPr/>
            </a:p>
          </p:txBody>
        </p:sp>
      </p:grpSp>
      <p:grpSp>
        <p:nvGrpSpPr>
          <p:cNvPr id="120403023" name="Group 13"/>
          <p:cNvGrpSpPr/>
          <p:nvPr/>
        </p:nvGrpSpPr>
        <p:grpSpPr bwMode="auto">
          <a:xfrm rot="0">
            <a:off x="1028700" y="8752188"/>
            <a:ext cx="9594085" cy="747677"/>
            <a:chOff x="0" y="0"/>
            <a:chExt cx="12792114" cy="996903"/>
          </a:xfrm>
        </p:grpSpPr>
        <p:sp>
          <p:nvSpPr>
            <p:cNvPr id="14" name="TextBox 14"/>
            <p:cNvSpPr txBox="1"/>
            <p:nvPr/>
          </p:nvSpPr>
          <p:spPr bwMode="auto">
            <a:xfrm rot="0">
              <a:off x="0" y="515319"/>
              <a:ext cx="12792114" cy="4815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6"/>
                </a:lnSpc>
                <a:defRPr/>
              </a:pPr>
              <a:r>
                <a:rPr lang="en-US" sz="2400" spc="23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</a:rPr>
                <a:t>Joaquín Cabrera, Sebastian Quilodran y Brayan Cid</a:t>
              </a: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 rot="0">
              <a:off x="0" y="9525"/>
              <a:ext cx="12792114" cy="43192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08"/>
                </a:lnSpc>
                <a:spcBef>
                  <a:spcPts val="0"/>
                </a:spcBef>
                <a:defRPr/>
              </a:pPr>
              <a:r>
                <a:rPr lang="en-US" sz="2200" b="1" u="none">
                  <a:solidFill>
                    <a:srgbClr val="FFFFFF"/>
                  </a:solidFill>
                  <a:latin typeface="Pragmatica Bold"/>
                  <a:ea typeface="Pragmatica Bold"/>
                  <a:cs typeface="Pragmatica Bold"/>
                </a:rPr>
                <a:t>PRESENTADO POR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979450" name="Group 2"/>
          <p:cNvGrpSpPr/>
          <p:nvPr/>
        </p:nvGrpSpPr>
        <p:grpSpPr bwMode="auto">
          <a:xfrm rot="0">
            <a:off x="665783" y="1028700"/>
            <a:ext cx="8278861" cy="8499300"/>
            <a:chOff x="0" y="0"/>
            <a:chExt cx="11038481" cy="11332401"/>
          </a:xfrm>
        </p:grpSpPr>
        <p:sp>
          <p:nvSpPr>
            <p:cNvPr id="3" name="AutoShape 3"/>
            <p:cNvSpPr/>
            <p:nvPr/>
          </p:nvSpPr>
          <p:spPr bwMode="auto">
            <a:xfrm>
              <a:off x="483890" y="2311773"/>
              <a:ext cx="845432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 bwMode="auto">
            <a:xfrm rot="0">
              <a:off x="483890" y="28575"/>
              <a:ext cx="9161554" cy="128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10"/>
                </a:lnSpc>
                <a:defRPr/>
              </a:pPr>
              <a:r>
                <a:rPr lang="en-US" sz="6500" b="1" spc="65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PROBL</a:t>
              </a:r>
              <a:r>
                <a:rPr lang="en-US" sz="6500" b="1" u="none" spc="65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EMÁTICA</a:t>
              </a:r>
              <a:endParaRPr/>
            </a:p>
          </p:txBody>
        </p:sp>
        <p:sp>
          <p:nvSpPr>
            <p:cNvPr id="5" name="TextBox 5"/>
            <p:cNvSpPr txBox="1"/>
            <p:nvPr/>
          </p:nvSpPr>
          <p:spPr bwMode="auto">
            <a:xfrm rot="0">
              <a:off x="0" y="3847765"/>
              <a:ext cx="11038481" cy="748463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567400" lvl="1" indent="-283700" algn="l">
                <a:lnSpc>
                  <a:spcPts val="3679"/>
                </a:lnSpc>
                <a:buFont typeface="Arial"/>
                <a:buChar char="•"/>
                <a:defRPr/>
              </a:pPr>
              <a:r>
                <a:rPr lang="en-US" sz="2650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Herrami</a:t>
              </a: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entas inaccesibles: El Business Intelligence corporativo es costoso, complejo e inalcanzable para el pequeño comercio. </a:t>
              </a:r>
              <a:endParaRPr/>
            </a:p>
            <a:p>
              <a:pPr algn="l">
                <a:lnSpc>
                  <a:spcPts val="3679"/>
                </a:lnSpc>
                <a:defRPr/>
              </a:pPr>
              <a:endParaRPr lang="en-US" sz="2650" u="none">
                <a:solidFill>
                  <a:srgbClr val="000000"/>
                </a:solidFill>
                <a:latin typeface="Pragmatica"/>
                <a:ea typeface="Pragmatica"/>
                <a:cs typeface="Pragmatica"/>
              </a:endParaRPr>
            </a:p>
            <a:p>
              <a:pPr marL="567400" lvl="1" indent="-283700" algn="l">
                <a:lnSpc>
                  <a:spcPts val="3679"/>
                </a:lnSpc>
                <a:buFont typeface="Arial"/>
                <a:buChar char="•"/>
                <a:defRPr/>
              </a:pP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Datos sin </a:t>
              </a: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explotar: Los POS convencionales solo acumulan registros pasivos sin convertirlos en decisiones comerciales útiles. </a:t>
              </a:r>
              <a:endParaRPr/>
            </a:p>
            <a:p>
              <a:pPr algn="l">
                <a:lnSpc>
                  <a:spcPts val="3679"/>
                </a:lnSpc>
                <a:defRPr/>
              </a:pPr>
              <a:endParaRPr lang="en-US" sz="2650" u="none">
                <a:solidFill>
                  <a:srgbClr val="000000"/>
                </a:solidFill>
                <a:latin typeface="Pragmatica"/>
                <a:ea typeface="Pragmatica"/>
                <a:cs typeface="Pragmatica"/>
              </a:endParaRPr>
            </a:p>
            <a:p>
              <a:pPr marL="567400" lvl="1" indent="-283700" algn="l">
                <a:lnSpc>
                  <a:spcPts val="3679"/>
                </a:lnSpc>
                <a:buFont typeface="Arial"/>
                <a:buChar char="•"/>
                <a:defRPr/>
              </a:pP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D</a:t>
              </a: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ependencia crítica de red: Las plataformas en la nube paralizan la venta y el cobro ante cualquier corte de Internet o caída de servidor. </a:t>
              </a:r>
              <a:endParaRPr/>
            </a:p>
            <a:p>
              <a:pPr algn="l">
                <a:lnSpc>
                  <a:spcPts val="4099"/>
                </a:lnSpc>
                <a:defRPr/>
              </a:pPr>
              <a:endParaRPr lang="en-US" sz="2650" u="none">
                <a:solidFill>
                  <a:srgbClr val="000000"/>
                </a:solidFill>
                <a:latin typeface="Pragmatica"/>
                <a:ea typeface="Pragmatica"/>
                <a:cs typeface="Pragmatica"/>
              </a:endParaRPr>
            </a:p>
          </p:txBody>
        </p:sp>
      </p:grpSp>
      <p:grpSp>
        <p:nvGrpSpPr>
          <p:cNvPr id="1429134457" name="Group 6"/>
          <p:cNvGrpSpPr/>
          <p:nvPr/>
        </p:nvGrpSpPr>
        <p:grpSpPr bwMode="auto"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fill="norm" stroke="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4816593" cy="29950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/>
            </a:p>
          </p:txBody>
        </p:sp>
      </p:grpSp>
      <p:grpSp>
        <p:nvGrpSpPr>
          <p:cNvPr id="1721179257" name="Group 9"/>
          <p:cNvGrpSpPr/>
          <p:nvPr/>
        </p:nvGrpSpPr>
        <p:grpSpPr bwMode="auto">
          <a:xfrm rot="0">
            <a:off x="151935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 bwMode="auto">
            <a:xfrm rot="0">
              <a:off x="562691" y="66593"/>
              <a:ext cx="3563260" cy="3653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65"/>
                </a:lnSpc>
                <a:defRPr/>
              </a:pPr>
              <a:r>
                <a:rPr lang="en-US" sz="1900" b="1" spc="3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POS-Analytics</a:t>
              </a:r>
              <a:endParaRPr/>
            </a:p>
          </p:txBody>
        </p:sp>
        <p:sp>
          <p:nvSpPr>
            <p:cNvPr id="11" name="Freeform 11"/>
            <p:cNvSpPr/>
            <p:nvPr/>
          </p:nvSpPr>
          <p:spPr bwMode="auto">
            <a:xfrm rot="5400000" flipH="0" flipV="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 fill="norm" stroke="1" extrusionOk="0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0"/>
              </a:stretch>
            </a:blipFill>
          </p:spPr>
        </p:sp>
      </p:grpSp>
      <p:sp>
        <p:nvSpPr>
          <p:cNvPr id="1580003839" name="Freeform 12"/>
          <p:cNvSpPr/>
          <p:nvPr/>
        </p:nvSpPr>
        <p:spPr bwMode="auto">
          <a:xfrm rot="0" flipH="0" flipV="0">
            <a:off x="8944643" y="1688629"/>
            <a:ext cx="9343357" cy="6228904"/>
          </a:xfrm>
          <a:custGeom>
            <a:avLst/>
            <a:gdLst/>
            <a:ahLst/>
            <a:cxnLst/>
            <a:rect l="l" t="t" r="r" b="b"/>
            <a:pathLst>
              <a:path w="9343357" h="6228905" fill="norm" stroke="1" extrusionOk="0">
                <a:moveTo>
                  <a:pt x="0" y="0"/>
                </a:moveTo>
                <a:lnTo>
                  <a:pt x="9343357" y="0"/>
                </a:lnTo>
                <a:lnTo>
                  <a:pt x="9343357" y="6228905"/>
                </a:lnTo>
                <a:lnTo>
                  <a:pt x="0" y="62289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84928017" name="Group 2"/>
          <p:cNvGrpSpPr/>
          <p:nvPr/>
        </p:nvGrpSpPr>
        <p:grpSpPr bwMode="auto"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fill="norm" stroke="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28575"/>
              <a:ext cx="4816593" cy="29950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/>
            </a:p>
          </p:txBody>
        </p:sp>
      </p:grpSp>
      <p:sp>
        <p:nvSpPr>
          <p:cNvPr id="1828493806" name="AutoShape 5"/>
          <p:cNvSpPr/>
          <p:nvPr/>
        </p:nvSpPr>
        <p:spPr bwMode="auto">
          <a:xfrm rot="0">
            <a:off x="8799375" y="3253109"/>
            <a:ext cx="845992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67190972" name="AutoShape 6"/>
          <p:cNvSpPr/>
          <p:nvPr/>
        </p:nvSpPr>
        <p:spPr bwMode="auto">
          <a:xfrm rot="0">
            <a:off x="8799375" y="6290721"/>
            <a:ext cx="845992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07080442" name="Group 7"/>
          <p:cNvGrpSpPr/>
          <p:nvPr/>
        </p:nvGrpSpPr>
        <p:grpSpPr bwMode="auto">
          <a:xfrm rot="0">
            <a:off x="15193537" y="9589260"/>
            <a:ext cx="3094463" cy="366780"/>
            <a:chOff x="0" y="0"/>
            <a:chExt cx="4125951" cy="489041"/>
          </a:xfrm>
        </p:grpSpPr>
        <p:sp>
          <p:nvSpPr>
            <p:cNvPr id="8" name="TextBox 8"/>
            <p:cNvSpPr txBox="1"/>
            <p:nvPr/>
          </p:nvSpPr>
          <p:spPr bwMode="auto">
            <a:xfrm rot="0">
              <a:off x="562691" y="66593"/>
              <a:ext cx="3563260" cy="3653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65"/>
                </a:lnSpc>
                <a:defRPr/>
              </a:pPr>
              <a:r>
                <a:rPr lang="en-US" sz="1900" b="1" spc="3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POS-Analytics</a:t>
              </a:r>
              <a:endParaRPr/>
            </a:p>
          </p:txBody>
        </p:sp>
        <p:sp>
          <p:nvSpPr>
            <p:cNvPr id="9" name="Freeform 9"/>
            <p:cNvSpPr/>
            <p:nvPr/>
          </p:nvSpPr>
          <p:spPr bwMode="auto">
            <a:xfrm rot="5400000" flipH="0" flipV="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 fill="norm" stroke="1" extrusionOk="0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0"/>
              </a:stretch>
            </a:blipFill>
          </p:spPr>
        </p:sp>
      </p:grpSp>
      <p:sp>
        <p:nvSpPr>
          <p:cNvPr id="1163915072" name="Freeform 10"/>
          <p:cNvSpPr/>
          <p:nvPr/>
        </p:nvSpPr>
        <p:spPr bwMode="auto">
          <a:xfrm rot="0" flipH="0" flipV="0">
            <a:off x="0" y="4252603"/>
            <a:ext cx="7865505" cy="4104811"/>
          </a:xfrm>
          <a:custGeom>
            <a:avLst/>
            <a:gdLst/>
            <a:ahLst/>
            <a:cxnLst/>
            <a:rect l="l" t="t" r="r" b="b"/>
            <a:pathLst>
              <a:path w="7865505" h="4104811" fill="norm" stroke="1" extrusionOk="0">
                <a:moveTo>
                  <a:pt x="0" y="0"/>
                </a:moveTo>
                <a:lnTo>
                  <a:pt x="7865505" y="0"/>
                </a:lnTo>
                <a:lnTo>
                  <a:pt x="7865505" y="4104811"/>
                </a:lnTo>
                <a:lnTo>
                  <a:pt x="0" y="41048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50868473" name="TextBox 11"/>
          <p:cNvSpPr txBox="1"/>
          <p:nvPr/>
        </p:nvSpPr>
        <p:spPr bwMode="auto">
          <a:xfrm rot="0">
            <a:off x="1028700" y="1057275"/>
            <a:ext cx="7109601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10"/>
              </a:lnSpc>
              <a:defRPr/>
            </a:pPr>
            <a:r>
              <a:rPr lang="en-US" sz="6500" b="1" u="none" spc="65">
                <a:solidFill>
                  <a:srgbClr val="000000"/>
                </a:solidFill>
                <a:latin typeface="Pragmatica Bold"/>
                <a:ea typeface="Pragmatica Bold"/>
                <a:cs typeface="Pragmatica Bold"/>
              </a:rPr>
              <a:t>SOLUCION PROPUESTA</a:t>
            </a:r>
            <a:endParaRPr/>
          </a:p>
        </p:txBody>
      </p:sp>
      <p:sp>
        <p:nvSpPr>
          <p:cNvPr id="1286724871" name="TextBox 12"/>
          <p:cNvSpPr txBox="1"/>
          <p:nvPr/>
        </p:nvSpPr>
        <p:spPr bwMode="auto">
          <a:xfrm rot="0">
            <a:off x="8799375" y="1637495"/>
            <a:ext cx="8459925" cy="104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  <a:defRPr/>
            </a:pPr>
            <a:r>
              <a:rPr lang="en-US" sz="2400" spc="23">
                <a:solidFill>
                  <a:srgbClr val="000000"/>
                </a:solidFill>
                <a:latin typeface="TT Interphases"/>
                <a:ea typeface="TT Interphases"/>
                <a:cs typeface="TT Interphases"/>
              </a:rPr>
              <a:t>Terminal POS Off</a:t>
            </a:r>
            <a:r>
              <a:rPr lang="en-US" sz="2400" spc="23">
                <a:solidFill>
                  <a:srgbClr val="000000"/>
                </a:solidFill>
                <a:latin typeface="TT Interphases"/>
                <a:ea typeface="TT Interphases"/>
                <a:cs typeface="TT Interphases"/>
              </a:rPr>
              <a:t>line-First: Software de escritorio de alta velocidad y funcionamiento autónomo, integrado con lectores ópticos e impresoras térmicas.</a:t>
            </a:r>
            <a:endParaRPr/>
          </a:p>
        </p:txBody>
      </p:sp>
      <p:grpSp>
        <p:nvGrpSpPr>
          <p:cNvPr id="101892472" name="Group 13"/>
          <p:cNvGrpSpPr/>
          <p:nvPr/>
        </p:nvGrpSpPr>
        <p:grpSpPr bwMode="auto">
          <a:xfrm rot="0">
            <a:off x="8799375" y="3743325"/>
            <a:ext cx="8459925" cy="1766345"/>
            <a:chOff x="0" y="0"/>
            <a:chExt cx="11279900" cy="2355127"/>
          </a:xfrm>
        </p:grpSpPr>
        <p:sp>
          <p:nvSpPr>
            <p:cNvPr id="14" name="TextBox 14"/>
            <p:cNvSpPr txBox="1"/>
            <p:nvPr/>
          </p:nvSpPr>
          <p:spPr bwMode="auto">
            <a:xfrm rot="0">
              <a:off x="0" y="0"/>
              <a:ext cx="11279900" cy="6858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79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 rot="0">
              <a:off x="0" y="918757"/>
              <a:ext cx="11279900" cy="13959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6"/>
                </a:lnSpc>
                <a:defRPr/>
              </a:pPr>
              <a:r>
                <a:rPr lang="en-US" sz="2400" spc="2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</a:rPr>
                <a:t>Motor Ana</a:t>
              </a:r>
              <a:r>
                <a:rPr lang="en-US" sz="2400" spc="2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</a:rPr>
                <a:t>lítico Transaccional Local: Procesamiento en segundo plano que extrae patrones de demanda temporal, márgenes netos y reglas de afinidad entre productos. </a:t>
              </a:r>
              <a:endParaRPr/>
            </a:p>
          </p:txBody>
        </p:sp>
      </p:grpSp>
      <p:sp>
        <p:nvSpPr>
          <p:cNvPr id="1922606936" name="TextBox 16"/>
          <p:cNvSpPr txBox="1"/>
          <p:nvPr/>
        </p:nvSpPr>
        <p:spPr bwMode="auto">
          <a:xfrm rot="0">
            <a:off x="8799375" y="7430784"/>
            <a:ext cx="8459925" cy="104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  <a:defRPr/>
            </a:pPr>
            <a:r>
              <a:rPr lang="en-US" sz="2400" spc="23">
                <a:solidFill>
                  <a:srgbClr val="000000"/>
                </a:solidFill>
                <a:latin typeface="TT Interphases"/>
                <a:ea typeface="TT Interphases"/>
                <a:cs typeface="TT Interphases"/>
              </a:rPr>
              <a:t>Ca</a:t>
            </a:r>
            <a:r>
              <a:rPr lang="en-US" sz="2400" spc="23">
                <a:solidFill>
                  <a:srgbClr val="000000"/>
                </a:solidFill>
                <a:latin typeface="TT Interphases"/>
                <a:ea typeface="TT Interphases"/>
                <a:cs typeface="TT Interphases"/>
              </a:rPr>
              <a:t>pa Cloud y Supervisión Remota: Replicación asíncrona tolerante a fallos hacia la nube y panel web móvil para consulta de métricas en tiempo real.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1394369" name="Group 2"/>
          <p:cNvGrpSpPr/>
          <p:nvPr/>
        </p:nvGrpSpPr>
        <p:grpSpPr bwMode="auto">
          <a:xfrm rot="0">
            <a:off x="0" y="0"/>
            <a:ext cx="18288000" cy="3670604"/>
            <a:chOff x="0" y="0"/>
            <a:chExt cx="24384000" cy="489413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3"/>
            <a:srcRect l="0" t="33044" r="0" b="33044"/>
            <a:stretch/>
          </p:blipFill>
          <p:spPr bwMode="auto">
            <a:xfrm flipH="0" flipV="0">
              <a:off x="0" y="0"/>
              <a:ext cx="24384000" cy="4894138"/>
            </a:xfrm>
            <a:prstGeom prst="rect">
              <a:avLst/>
            </a:prstGeom>
          </p:spPr>
        </p:pic>
      </p:grpSp>
      <p:grpSp>
        <p:nvGrpSpPr>
          <p:cNvPr id="671394963" name="Group 4"/>
          <p:cNvGrpSpPr/>
          <p:nvPr/>
        </p:nvGrpSpPr>
        <p:grpSpPr bwMode="auto">
          <a:xfrm rot="0">
            <a:off x="1028700" y="4681848"/>
            <a:ext cx="7812715" cy="2340613"/>
            <a:chOff x="0" y="0"/>
            <a:chExt cx="10416953" cy="3120818"/>
          </a:xfrm>
        </p:grpSpPr>
        <p:sp>
          <p:nvSpPr>
            <p:cNvPr id="5" name="TextBox 5"/>
            <p:cNvSpPr txBox="1"/>
            <p:nvPr/>
          </p:nvSpPr>
          <p:spPr bwMode="auto">
            <a:xfrm rot="0">
              <a:off x="0" y="28575"/>
              <a:ext cx="10416953" cy="25266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10"/>
                </a:lnSpc>
                <a:defRPr/>
              </a:pPr>
              <a:r>
                <a:rPr lang="en-US" sz="6500" b="1" spc="65">
                  <a:solidFill>
                    <a:srgbClr val="FFFFFF"/>
                  </a:solidFill>
                  <a:latin typeface="Pragmatica Bold"/>
                  <a:ea typeface="Pragmatica Bold"/>
                  <a:cs typeface="Pragmatica Bold"/>
                </a:rPr>
                <a:t>OBJETIVO GENERAL</a:t>
              </a:r>
              <a:endParaRPr/>
            </a:p>
          </p:txBody>
        </p:sp>
        <p:sp>
          <p:nvSpPr>
            <p:cNvPr id="6" name="AutoShape 6"/>
            <p:cNvSpPr/>
            <p:nvPr/>
          </p:nvSpPr>
          <p:spPr bwMode="auto">
            <a:xfrm>
              <a:off x="0" y="3095418"/>
              <a:ext cx="10416953" cy="0"/>
            </a:xfrm>
            <a:prstGeom prst="line">
              <a:avLst/>
            </a:prstGeom>
            <a:grpFill/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322319127" name="Group 7"/>
          <p:cNvGrpSpPr/>
          <p:nvPr/>
        </p:nvGrpSpPr>
        <p:grpSpPr bwMode="auto">
          <a:xfrm rot="0">
            <a:off x="10414012" y="4681848"/>
            <a:ext cx="6845287" cy="6662427"/>
            <a:chOff x="0" y="0"/>
            <a:chExt cx="9127050" cy="8883236"/>
          </a:xfrm>
        </p:grpSpPr>
        <p:sp>
          <p:nvSpPr>
            <p:cNvPr id="8" name="TextBox 8"/>
            <p:cNvSpPr txBox="1"/>
            <p:nvPr/>
          </p:nvSpPr>
          <p:spPr bwMode="auto">
            <a:xfrm rot="0">
              <a:off x="0" y="-47625"/>
              <a:ext cx="9127050" cy="6131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  <a:defRPr/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 bwMode="auto">
            <a:xfrm rot="0">
              <a:off x="0" y="692572"/>
              <a:ext cx="9127050" cy="34290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79"/>
                </a:lnSpc>
                <a:spcBef>
                  <a:spcPts val="0"/>
                </a:spcBef>
                <a:defRPr/>
              </a:pPr>
              <a:r>
                <a:rPr lang="en-US" sz="3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</a:rPr>
                <a:t>Desarrollar una plataforma </a:t>
              </a:r>
              <a:r>
                <a:rPr lang="en-US" sz="3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</a:rPr>
                <a:t>híbrida de punto de venta con un motor de análisis e inteligencia de ventas local y sincronización asíncrona hacia la nube</a:t>
              </a:r>
              <a:endParaRPr/>
            </a:p>
          </p:txBody>
        </p:sp>
        <p:sp>
          <p:nvSpPr>
            <p:cNvPr id="10" name="TextBox 10"/>
            <p:cNvSpPr txBox="1"/>
            <p:nvPr/>
          </p:nvSpPr>
          <p:spPr bwMode="auto">
            <a:xfrm rot="0">
              <a:off x="0" y="5076405"/>
              <a:ext cx="9127050" cy="6131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920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" name="TextBox 11"/>
            <p:cNvSpPr txBox="1"/>
            <p:nvPr/>
          </p:nvSpPr>
          <p:spPr bwMode="auto">
            <a:xfrm rot="0">
              <a:off x="0" y="5816605"/>
              <a:ext cx="9127050" cy="6858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79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2" name="TextBox 12"/>
            <p:cNvSpPr txBox="1"/>
            <p:nvPr/>
          </p:nvSpPr>
          <p:spPr bwMode="auto">
            <a:xfrm rot="0">
              <a:off x="0" y="8197436"/>
              <a:ext cx="9127050" cy="6858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79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58678812" name="Group 2"/>
          <p:cNvGrpSpPr/>
          <p:nvPr/>
        </p:nvGrpSpPr>
        <p:grpSpPr bwMode="auto"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fill="norm" stroke="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28575"/>
              <a:ext cx="4816593" cy="29950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/>
            </a:p>
          </p:txBody>
        </p:sp>
      </p:grpSp>
      <p:grpSp>
        <p:nvGrpSpPr>
          <p:cNvPr id="956365782" name="Group 5"/>
          <p:cNvGrpSpPr/>
          <p:nvPr/>
        </p:nvGrpSpPr>
        <p:grpSpPr bwMode="auto">
          <a:xfrm rot="0">
            <a:off x="1028700" y="1666837"/>
            <a:ext cx="6341099" cy="3257163"/>
            <a:chOff x="0" y="0"/>
            <a:chExt cx="6341099" cy="3257163"/>
          </a:xfrm>
        </p:grpSpPr>
        <p:sp>
          <p:nvSpPr>
            <p:cNvPr id="6" name="TextBox 6"/>
            <p:cNvSpPr txBox="1"/>
            <p:nvPr/>
          </p:nvSpPr>
          <p:spPr bwMode="auto">
            <a:xfrm rot="0">
              <a:off x="0" y="0"/>
              <a:ext cx="6340739" cy="18949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10"/>
                </a:lnSpc>
                <a:defRPr/>
              </a:pPr>
              <a:r>
                <a:rPr lang="en-US" sz="6500" b="1" u="none" spc="65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OBJETIVOS ESPECÍFICOS</a:t>
              </a:r>
              <a:endParaRPr/>
            </a:p>
          </p:txBody>
        </p:sp>
        <p:sp>
          <p:nvSpPr>
            <p:cNvPr id="7" name="AutoShape 7"/>
            <p:cNvSpPr/>
            <p:nvPr/>
          </p:nvSpPr>
          <p:spPr bwMode="auto">
            <a:xfrm>
              <a:off x="0" y="2347007"/>
              <a:ext cx="6340739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 bwMode="auto">
            <a:xfrm rot="0">
              <a:off x="0" y="2758963"/>
              <a:ext cx="6341099" cy="4981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  <a:defRPr/>
              </a:pPr>
              <a:endParaRPr/>
            </a:p>
          </p:txBody>
        </p:sp>
      </p:grpSp>
      <p:grpSp>
        <p:nvGrpSpPr>
          <p:cNvPr id="915835050" name="Group 9"/>
          <p:cNvGrpSpPr/>
          <p:nvPr/>
        </p:nvGrpSpPr>
        <p:grpSpPr bwMode="auto">
          <a:xfrm rot="0">
            <a:off x="8278082" y="1335370"/>
            <a:ext cx="4539441" cy="3108814"/>
            <a:chOff x="0" y="0"/>
            <a:chExt cx="1538147" cy="1053392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538147" cy="1053392"/>
            </a:xfrm>
            <a:custGeom>
              <a:avLst/>
              <a:gdLst/>
              <a:ahLst/>
              <a:cxnLst/>
              <a:rect l="l" t="t" r="r" b="b"/>
              <a:pathLst>
                <a:path w="1538147" h="1053392" fill="norm" stroke="1" extrusionOk="0">
                  <a:moveTo>
                    <a:pt x="0" y="0"/>
                  </a:moveTo>
                  <a:lnTo>
                    <a:pt x="1538147" y="0"/>
                  </a:lnTo>
                  <a:lnTo>
                    <a:pt x="1538147" y="1053392"/>
                  </a:lnTo>
                  <a:lnTo>
                    <a:pt x="0" y="1053392"/>
                  </a:lnTo>
                  <a:close/>
                </a:path>
              </a:pathLst>
            </a:custGeom>
            <a:solidFill>
              <a:srgbClr val="0000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133350"/>
              <a:ext cx="1538147" cy="118674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100"/>
                </a:lnSpc>
                <a:defRPr/>
              </a:pPr>
              <a:r>
                <a:rPr lang="en-US" sz="6500" b="1">
                  <a:solidFill>
                    <a:srgbClr val="FFFFFF"/>
                  </a:solidFill>
                  <a:latin typeface="Pragmatica Bold"/>
                  <a:ea typeface="Pragmatica Bold"/>
                  <a:cs typeface="Pragmatica Bold"/>
                </a:rPr>
                <a:t>1</a:t>
              </a:r>
              <a:r>
                <a:rPr lang="en-US" sz="6500" b="1">
                  <a:solidFill>
                    <a:srgbClr val="FFFFFF"/>
                  </a:solidFill>
                  <a:latin typeface="Pragmatica Bold"/>
                  <a:ea typeface="Pragmatica Bold"/>
                  <a:cs typeface="Pragmatica Bold"/>
                </a:rPr>
                <a:t>.000</a:t>
              </a:r>
              <a:endParaRPr/>
            </a:p>
          </p:txBody>
        </p:sp>
      </p:grpSp>
      <p:grpSp>
        <p:nvGrpSpPr>
          <p:cNvPr id="845749675" name="Group 12"/>
          <p:cNvGrpSpPr/>
          <p:nvPr/>
        </p:nvGrpSpPr>
        <p:grpSpPr bwMode="auto">
          <a:xfrm rot="0">
            <a:off x="13244419" y="1335370"/>
            <a:ext cx="4497086" cy="3071842"/>
            <a:chOff x="0" y="0"/>
            <a:chExt cx="5996115" cy="4095789"/>
          </a:xfrm>
        </p:grpSpPr>
        <p:sp>
          <p:nvSpPr>
            <p:cNvPr id="13" name="TextBox 13"/>
            <p:cNvSpPr txBox="1"/>
            <p:nvPr/>
          </p:nvSpPr>
          <p:spPr bwMode="auto">
            <a:xfrm rot="0">
              <a:off x="0" y="28575"/>
              <a:ext cx="5996115" cy="106667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1"/>
                </a:lnSpc>
                <a:defRPr/>
              </a:pPr>
              <a:r>
                <a:rPr lang="en-US" sz="2800" b="1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C</a:t>
              </a:r>
              <a:r>
                <a:rPr lang="en-US" sz="2800" b="1" u="none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entralización y continuidad de caja:</a:t>
              </a:r>
              <a:endParaRPr/>
            </a:p>
          </p:txBody>
        </p:sp>
        <p:sp>
          <p:nvSpPr>
            <p:cNvPr id="14" name="TextBox 14"/>
            <p:cNvSpPr txBox="1"/>
            <p:nvPr/>
          </p:nvSpPr>
          <p:spPr bwMode="auto">
            <a:xfrm rot="0">
              <a:off x="0" y="1328205"/>
              <a:ext cx="5996115" cy="27675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6"/>
                </a:lnSpc>
                <a:defRPr/>
              </a:pPr>
              <a:r>
                <a:rPr lang="en-US" sz="2400" spc="2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</a:rPr>
                <a:t>Centra</a:t>
              </a:r>
              <a:r>
                <a:rPr lang="en-US" sz="2400" spc="2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</a:rPr>
                <a:t>lizar cobro e inventario registrando al menos 1.000 comprobantes continuos en el local sin interrupciones por corte de red dentro de 5 semanas de puesta en marcha.</a:t>
              </a:r>
              <a:endParaRPr/>
            </a:p>
          </p:txBody>
        </p:sp>
      </p:grpSp>
      <p:grpSp>
        <p:nvGrpSpPr>
          <p:cNvPr id="494811312" name="Group 15"/>
          <p:cNvGrpSpPr/>
          <p:nvPr/>
        </p:nvGrpSpPr>
        <p:grpSpPr bwMode="auto">
          <a:xfrm rot="0">
            <a:off x="13244419" y="5090840"/>
            <a:ext cx="4625674" cy="3471892"/>
            <a:chOff x="0" y="0"/>
            <a:chExt cx="6167565" cy="4629189"/>
          </a:xfrm>
        </p:grpSpPr>
        <p:sp>
          <p:nvSpPr>
            <p:cNvPr id="16" name="TextBox 16"/>
            <p:cNvSpPr txBox="1"/>
            <p:nvPr/>
          </p:nvSpPr>
          <p:spPr bwMode="auto">
            <a:xfrm rot="0">
              <a:off x="0" y="28575"/>
              <a:ext cx="6167565" cy="160007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1"/>
                </a:lnSpc>
                <a:defRPr/>
              </a:pPr>
              <a:r>
                <a:rPr lang="en-US" sz="2800" b="1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D</a:t>
              </a:r>
              <a:r>
                <a:rPr lang="en-US" sz="2800" b="1" u="none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escubrimiento de oportunidades comerciales:</a:t>
              </a:r>
              <a:endParaRPr/>
            </a:p>
          </p:txBody>
        </p:sp>
        <p:sp>
          <p:nvSpPr>
            <p:cNvPr id="17" name="TextBox 17"/>
            <p:cNvSpPr txBox="1"/>
            <p:nvPr/>
          </p:nvSpPr>
          <p:spPr bwMode="auto">
            <a:xfrm rot="0">
              <a:off x="0" y="1861605"/>
              <a:ext cx="6167565" cy="27675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6"/>
                </a:lnSpc>
                <a:defRPr/>
              </a:pPr>
              <a:r>
                <a:rPr lang="en-US" sz="2400" spc="2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</a:rPr>
                <a:t>Procesar datos transaccionales </a:t>
              </a:r>
              <a:r>
                <a:rPr lang="en-US" sz="2400" spc="23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</a:rPr>
                <a:t>para identificar al menos 5 reglas de compra cruzada y presentar un reporte que derive en al menos una acción comercial validada en 10 semanas</a:t>
              </a:r>
              <a:endParaRPr/>
            </a:p>
          </p:txBody>
        </p:sp>
      </p:grpSp>
      <p:grpSp>
        <p:nvGrpSpPr>
          <p:cNvPr id="255785980" name="Group 18"/>
          <p:cNvGrpSpPr/>
          <p:nvPr/>
        </p:nvGrpSpPr>
        <p:grpSpPr bwMode="auto">
          <a:xfrm rot="0">
            <a:off x="8278082" y="5176757"/>
            <a:ext cx="4539441" cy="3108814"/>
            <a:chOff x="0" y="0"/>
            <a:chExt cx="1538147" cy="1053392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538147" cy="1053392"/>
            </a:xfrm>
            <a:custGeom>
              <a:avLst/>
              <a:gdLst/>
              <a:ahLst/>
              <a:cxnLst/>
              <a:rect l="l" t="t" r="r" b="b"/>
              <a:pathLst>
                <a:path w="1538147" h="1053392" fill="norm" stroke="1" extrusionOk="0">
                  <a:moveTo>
                    <a:pt x="0" y="0"/>
                  </a:moveTo>
                  <a:lnTo>
                    <a:pt x="1538147" y="0"/>
                  </a:lnTo>
                  <a:lnTo>
                    <a:pt x="1538147" y="1053392"/>
                  </a:lnTo>
                  <a:lnTo>
                    <a:pt x="0" y="1053392"/>
                  </a:lnTo>
                  <a:close/>
                </a:path>
              </a:pathLst>
            </a:custGeom>
            <a:grpFill/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133350"/>
              <a:ext cx="1538147" cy="118674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100"/>
                </a:lnSpc>
                <a:defRPr/>
              </a:pPr>
              <a:r>
                <a:rPr lang="en-US" sz="6500" b="1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5</a:t>
              </a:r>
              <a:endParaRPr/>
            </a:p>
          </p:txBody>
        </p:sp>
      </p:grpSp>
      <p:grpSp>
        <p:nvGrpSpPr>
          <p:cNvPr id="1123443856" name="Group 21"/>
          <p:cNvGrpSpPr/>
          <p:nvPr/>
        </p:nvGrpSpPr>
        <p:grpSpPr bwMode="auto">
          <a:xfrm rot="0">
            <a:off x="15193537" y="9589260"/>
            <a:ext cx="3094463" cy="366780"/>
            <a:chOff x="0" y="0"/>
            <a:chExt cx="4125951" cy="489041"/>
          </a:xfrm>
        </p:grpSpPr>
        <p:sp>
          <p:nvSpPr>
            <p:cNvPr id="22" name="TextBox 22"/>
            <p:cNvSpPr txBox="1"/>
            <p:nvPr/>
          </p:nvSpPr>
          <p:spPr bwMode="auto">
            <a:xfrm rot="0">
              <a:off x="562691" y="66593"/>
              <a:ext cx="3563260" cy="3653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65"/>
                </a:lnSpc>
                <a:defRPr/>
              </a:pPr>
              <a:r>
                <a:rPr lang="en-US" sz="1900" b="1" spc="3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POS-Analytics</a:t>
              </a:r>
              <a:endParaRPr/>
            </a:p>
          </p:txBody>
        </p:sp>
        <p:sp>
          <p:nvSpPr>
            <p:cNvPr id="23" name="Freeform 23"/>
            <p:cNvSpPr/>
            <p:nvPr/>
          </p:nvSpPr>
          <p:spPr bwMode="auto">
            <a:xfrm rot="5400000" flipH="0" flipV="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 fill="norm" stroke="1" extrusionOk="0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432825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>
            <a:off x="2870822" y="5030848"/>
            <a:ext cx="4008401" cy="4008401"/>
          </a:xfrm>
          <a:prstGeom prst="rect">
            <a:avLst/>
          </a:prstGeom>
        </p:spPr>
      </p:pic>
      <p:pic>
        <p:nvPicPr>
          <p:cNvPr id="1034488059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>
            <a:off x="11792912" y="4902174"/>
            <a:ext cx="4473637" cy="3751397"/>
          </a:xfrm>
          <a:prstGeom prst="rect">
            <a:avLst/>
          </a:prstGeom>
        </p:spPr>
      </p:pic>
      <p:grpSp>
        <p:nvGrpSpPr>
          <p:cNvPr id="1878748577" name="Group 4"/>
          <p:cNvGrpSpPr/>
          <p:nvPr/>
        </p:nvGrpSpPr>
        <p:grpSpPr bwMode="auto">
          <a:xfrm rot="0">
            <a:off x="1942884" y="1442457"/>
            <a:ext cx="5864275" cy="3369338"/>
            <a:chOff x="0" y="0"/>
            <a:chExt cx="7819034" cy="4492451"/>
          </a:xfrm>
        </p:grpSpPr>
        <p:sp>
          <p:nvSpPr>
            <p:cNvPr id="5" name="TextBox 5"/>
            <p:cNvSpPr txBox="1"/>
            <p:nvPr/>
          </p:nvSpPr>
          <p:spPr bwMode="auto">
            <a:xfrm rot="0">
              <a:off x="0" y="2182067"/>
              <a:ext cx="7819034" cy="2310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400" spc="23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</a:rPr>
                <a:t>Im</a:t>
              </a:r>
              <a:r>
                <a:rPr lang="en-US" sz="2400" spc="23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</a:rPr>
                <a:t>plementar un módulo de alertas automáticas de reposición y clasificación de rotación con un 85% de precisión en sugerencias validadas con el comerciante en 12 semanas.</a:t>
              </a:r>
              <a:endParaRPr/>
            </a:p>
          </p:txBody>
        </p:sp>
        <p:sp>
          <p:nvSpPr>
            <p:cNvPr id="6" name="TextBox 6"/>
            <p:cNvSpPr txBox="1"/>
            <p:nvPr/>
          </p:nvSpPr>
          <p:spPr bwMode="auto">
            <a:xfrm rot="0">
              <a:off x="0" y="0"/>
              <a:ext cx="7819034" cy="13716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  <a:spcBef>
                  <a:spcPts val="0"/>
                </a:spcBef>
                <a:defRPr/>
              </a:pPr>
              <a:r>
                <a:rPr lang="en-US" sz="3400" b="1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Diagnós</a:t>
              </a:r>
              <a:r>
                <a:rPr lang="en-US" sz="3400" b="1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tico y optimización de inventario:</a:t>
              </a:r>
              <a:endParaRPr/>
            </a:p>
          </p:txBody>
        </p:sp>
      </p:grpSp>
      <p:grpSp>
        <p:nvGrpSpPr>
          <p:cNvPr id="96997638" name="Group 7"/>
          <p:cNvGrpSpPr/>
          <p:nvPr/>
        </p:nvGrpSpPr>
        <p:grpSpPr bwMode="auto">
          <a:xfrm rot="0">
            <a:off x="-163520" y="9258300"/>
            <a:ext cx="18615039" cy="1396619"/>
            <a:chOff x="0" y="0"/>
            <a:chExt cx="4902726" cy="367834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4902726" cy="367834"/>
            </a:xfrm>
            <a:custGeom>
              <a:avLst/>
              <a:gdLst/>
              <a:ahLst/>
              <a:cxnLst/>
              <a:rect l="l" t="t" r="r" b="b"/>
              <a:pathLst>
                <a:path w="4902726" h="367834" fill="norm" stroke="1" extrusionOk="0">
                  <a:moveTo>
                    <a:pt x="0" y="0"/>
                  </a:moveTo>
                  <a:lnTo>
                    <a:pt x="4902726" y="0"/>
                  </a:lnTo>
                  <a:lnTo>
                    <a:pt x="4902726" y="367834"/>
                  </a:lnTo>
                  <a:lnTo>
                    <a:pt x="0" y="367834"/>
                  </a:lnTo>
                  <a:close/>
                </a:path>
              </a:pathLst>
            </a:custGeom>
            <a:solidFill>
              <a:srgbClr val="000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28575"/>
              <a:ext cx="4902726" cy="3964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/>
            </a:p>
          </p:txBody>
        </p:sp>
      </p:grpSp>
      <p:sp>
        <p:nvSpPr>
          <p:cNvPr id="15963031" name="AutoShape 10"/>
          <p:cNvSpPr/>
          <p:nvPr/>
        </p:nvSpPr>
        <p:spPr bwMode="auto">
          <a:xfrm rot="5400000">
            <a:off x="4514850" y="4614863"/>
            <a:ext cx="9258300" cy="28575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89474812" name="Group 11"/>
          <p:cNvGrpSpPr/>
          <p:nvPr/>
        </p:nvGrpSpPr>
        <p:grpSpPr bwMode="auto">
          <a:xfrm rot="0">
            <a:off x="10711829" y="1442457"/>
            <a:ext cx="6571509" cy="3369338"/>
            <a:chOff x="0" y="0"/>
            <a:chExt cx="8762012" cy="4492451"/>
          </a:xfrm>
        </p:grpSpPr>
        <p:sp>
          <p:nvSpPr>
            <p:cNvPr id="12" name="TextBox 12"/>
            <p:cNvSpPr txBox="1"/>
            <p:nvPr/>
          </p:nvSpPr>
          <p:spPr bwMode="auto">
            <a:xfrm rot="0">
              <a:off x="0" y="2182067"/>
              <a:ext cx="8762012" cy="2310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400" spc="23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</a:rPr>
                <a:t>Garantizar un 100% de consistencia transaccional (cero datos perdidos o du</a:t>
              </a:r>
              <a:r>
                <a:rPr lang="en-US" sz="2400" spc="23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</a:rPr>
                <a:t>plicados) entre la terminal local y el dashboard web móvil durante 15 jornadas operativas continuas</a:t>
              </a:r>
              <a:endParaRPr/>
            </a:p>
          </p:txBody>
        </p:sp>
        <p:sp>
          <p:nvSpPr>
            <p:cNvPr id="13" name="TextBox 13"/>
            <p:cNvSpPr txBox="1"/>
            <p:nvPr/>
          </p:nvSpPr>
          <p:spPr bwMode="auto">
            <a:xfrm rot="0">
              <a:off x="535783" y="0"/>
              <a:ext cx="7776171" cy="13716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  <a:spcBef>
                  <a:spcPts val="0"/>
                </a:spcBef>
                <a:defRPr/>
              </a:pPr>
              <a:r>
                <a:rPr lang="en-US" sz="3400" b="1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R</a:t>
              </a:r>
              <a:r>
                <a:rPr lang="en-US" sz="3400" b="1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esiliencia e integridad cloud:</a:t>
              </a:r>
              <a:endParaRPr/>
            </a:p>
          </p:txBody>
        </p:sp>
      </p:grpSp>
      <p:grpSp>
        <p:nvGrpSpPr>
          <p:cNvPr id="1468643449" name="Group 14"/>
          <p:cNvGrpSpPr/>
          <p:nvPr/>
        </p:nvGrpSpPr>
        <p:grpSpPr bwMode="auto">
          <a:xfrm rot="0">
            <a:off x="15193537" y="9589260"/>
            <a:ext cx="3094463" cy="366780"/>
            <a:chOff x="0" y="0"/>
            <a:chExt cx="4125951" cy="489041"/>
          </a:xfrm>
        </p:grpSpPr>
        <p:sp>
          <p:nvSpPr>
            <p:cNvPr id="15" name="TextBox 15"/>
            <p:cNvSpPr txBox="1"/>
            <p:nvPr/>
          </p:nvSpPr>
          <p:spPr bwMode="auto">
            <a:xfrm rot="0">
              <a:off x="562691" y="66593"/>
              <a:ext cx="3563260" cy="3653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65"/>
                </a:lnSpc>
                <a:defRPr/>
              </a:pPr>
              <a:r>
                <a:rPr lang="en-US" sz="1900" b="1" spc="3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POS-Analytics</a:t>
              </a:r>
              <a:endParaRPr/>
            </a:p>
          </p:txBody>
        </p:sp>
        <p:sp>
          <p:nvSpPr>
            <p:cNvPr id="16" name="Freeform 16"/>
            <p:cNvSpPr/>
            <p:nvPr/>
          </p:nvSpPr>
          <p:spPr bwMode="auto">
            <a:xfrm rot="5400000" flipH="0" flipV="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 fill="norm" stroke="1" extrusionOk="0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05228199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6765105" y="221110"/>
          <a:ext cx="11217502" cy="482150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287841"/>
                <a:gridCol w="9929661"/>
              </a:tblGrid>
              <a:tr h="1208264">
                <a:tc>
                  <a:txBody>
                    <a:bodyPr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Pragmatica Bold"/>
                          <a:ea typeface="Pragmatica Bold"/>
                          <a:cs typeface="Pragmatica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algn="ctr">
                      <a:solidFill>
                        <a:srgbClr val="FFFFFF"/>
                      </a:solidFill>
                    </a:lnL>
                    <a:lnR w="0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</a:rPr>
                        <a:t>Terminal de escritorio para mostrador con módulos de venta rápida, catálogo, control de existencias y arqueo de turnos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algn="ctr">
                      <a:solidFill>
                        <a:srgbClr val="FFFFFF"/>
                      </a:solidFill>
                    </a:lnL>
                    <a:lnR w="28575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</a:tr>
              <a:tr h="1232828">
                <a:tc>
                  <a:txBody>
                    <a:bodyPr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Pragmatica Bold"/>
                          <a:ea typeface="Pragmatica Bold"/>
                          <a:cs typeface="Pragmatica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algn="ctr">
                      <a:solidFill>
                        <a:srgbClr val="FFFFFF"/>
                      </a:solidFill>
                    </a:lnL>
                    <a:lnR w="0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</a:rPr>
                        <a:t>Motor analítico local con algoritmos deterministas de asociación y análisis temporal.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algn="ctr">
                      <a:solidFill>
                        <a:srgbClr val="FFFFFF"/>
                      </a:solidFill>
                    </a:lnL>
                    <a:lnR w="28575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</a:tr>
              <a:tr h="1190208">
                <a:tc>
                  <a:txBody>
                    <a:bodyPr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Pragmatica Bold"/>
                          <a:ea typeface="Pragmatica Bold"/>
                          <a:cs typeface="Pragmatica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algn="ctr">
                      <a:solidFill>
                        <a:srgbClr val="FFFFFF"/>
                      </a:solidFill>
                    </a:lnL>
                    <a:lnR w="0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</a:rPr>
                        <a:t>Dashboard web responsivo optimizado para supervisión remota en teléfonos móviles.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algn="ctr">
                      <a:solidFill>
                        <a:srgbClr val="FFFFFF"/>
                      </a:solidFill>
                    </a:lnL>
                    <a:lnR w="28575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</a:tr>
              <a:tr h="1190208">
                <a:tc>
                  <a:txBody>
                    <a:bodyPr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Pragmatica Bold"/>
                          <a:ea typeface="Pragmatica Bold"/>
                          <a:cs typeface="Pragmatica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algn="ctr">
                      <a:solidFill>
                        <a:srgbClr val="FFFFFF"/>
                      </a:solidFill>
                    </a:lnL>
                    <a:lnR w="0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</a:rPr>
                        <a:t>Validación operativa en terreno con comerciantes activos y transacciones reales.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algn="ctr">
                      <a:solidFill>
                        <a:srgbClr val="FFFFFF"/>
                      </a:solidFill>
                    </a:lnL>
                    <a:lnR w="28575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65840946" name="TextBox 3"/>
          <p:cNvSpPr txBox="1"/>
          <p:nvPr/>
        </p:nvSpPr>
        <p:spPr bwMode="auto">
          <a:xfrm rot="0">
            <a:off x="1028700" y="1057275"/>
            <a:ext cx="5059131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10"/>
              </a:lnSpc>
              <a:defRPr/>
            </a:pPr>
            <a:r>
              <a:rPr lang="en-US" sz="6500" b="1" spc="65">
                <a:solidFill>
                  <a:srgbClr val="FFFFFF"/>
                </a:solidFill>
                <a:latin typeface="Pragmatica Bold"/>
                <a:ea typeface="Pragmatica Bold"/>
                <a:cs typeface="Pragmatica Bold"/>
              </a:rPr>
              <a:t>ALCANCES</a:t>
            </a:r>
            <a:endParaRPr/>
          </a:p>
        </p:txBody>
      </p:sp>
      <p:graphicFrame>
        <p:nvGraphicFramePr>
          <p:cNvPr id="615050611" name="Table 4"/>
          <p:cNvGraphicFramePr>
            <a:graphicFrameLocks xmlns:a="http://schemas.openxmlformats.org/drawingml/2006/main" noGrp="1"/>
          </p:cNvGraphicFramePr>
          <p:nvPr/>
        </p:nvGraphicFramePr>
        <p:xfrm rot="0">
          <a:off x="6765105" y="5229730"/>
          <a:ext cx="11217502" cy="483616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287841"/>
                <a:gridCol w="9929661"/>
              </a:tblGrid>
              <a:tr h="1140212">
                <a:tc>
                  <a:txBody>
                    <a:bodyPr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Pragmatica Bold"/>
                          <a:ea typeface="Pragmatica Bold"/>
                          <a:cs typeface="Pragmatica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algn="ctr">
                      <a:solidFill>
                        <a:srgbClr val="FFFFFF"/>
                      </a:solidFill>
                    </a:lnL>
                    <a:lnR w="0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</a:rPr>
                        <a:t>Arquitectura mono-caja: El soporte está diseñado para operar en una única terminal principal de mostrador por local comercial.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algn="ctr">
                      <a:solidFill>
                        <a:srgbClr val="FFFFFF"/>
                      </a:solidFill>
                    </a:lnL>
                    <a:lnR w="28575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</a:tr>
              <a:tr h="2201216">
                <a:tc>
                  <a:txBody>
                    <a:bodyPr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Pragmatica Bold"/>
                          <a:ea typeface="Pragmatica Bold"/>
                          <a:cs typeface="Pragmatica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algn="ctr">
                      <a:solidFill>
                        <a:srgbClr val="FFFFFF"/>
                      </a:solidFill>
                    </a:lnL>
                    <a:lnR w="0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</a:rPr>
                        <a:t>Dependencia de conectividad intermitente para funciones remotas: Si bien la terminal opera de forma 100% autónoma y no requiere Internet para vender o analizar datos en el local, el envío de datos a la nube y el uso del panel web móvil requieren que el equipo disponga de conexión en algún momento para sincronizar.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algn="ctr">
                      <a:solidFill>
                        <a:srgbClr val="FFFFFF"/>
                      </a:solidFill>
                    </a:lnL>
                    <a:lnR w="28575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</a:tr>
              <a:tr h="1494732">
                <a:tc>
                  <a:txBody>
                    <a:bodyPr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Pragmatica Bold"/>
                          <a:ea typeface="Pragmatica Bold"/>
                          <a:cs typeface="Pragmatica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algn="ctr">
                      <a:solidFill>
                        <a:srgbClr val="FFFFFF"/>
                      </a:solidFill>
                    </a:lnL>
                    <a:lnR w="0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</a:rPr>
                        <a:t>Desacoplamiento de facturación tributaria formal (SII): El sistema no emite boletas o facturas electrónicas oficiales ante el Servicio de Impuestos Internos; su alcance se restringe a tickets térmicos y comprobantes de control interno.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algn="ctr">
                      <a:solidFill>
                        <a:srgbClr val="FFFFFF"/>
                      </a:solidFill>
                    </a:lnL>
                    <a:lnR w="28575" algn="ctr">
                      <a:solidFill>
                        <a:srgbClr val="FFFFFF"/>
                      </a:solidFill>
                    </a:lnR>
                    <a:lnT w="28575" algn="ctr">
                      <a:solidFill>
                        <a:srgbClr val="FFFFFF"/>
                      </a:solidFill>
                    </a:lnT>
                    <a:lnB w="28575" algn="ctr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51995025" name="TextBox 5"/>
          <p:cNvSpPr txBox="1"/>
          <p:nvPr/>
        </p:nvSpPr>
        <p:spPr bwMode="auto">
          <a:xfrm rot="0">
            <a:off x="1028700" y="5391335"/>
            <a:ext cx="5252013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10"/>
              </a:lnSpc>
              <a:defRPr/>
            </a:pPr>
            <a:r>
              <a:rPr lang="en-US" sz="6500" b="1" spc="65">
                <a:solidFill>
                  <a:srgbClr val="FFFFFF"/>
                </a:solidFill>
                <a:latin typeface="Pragmatica Bold"/>
                <a:ea typeface="Pragmatica Bold"/>
                <a:cs typeface="Pragmatica Bold"/>
              </a:rPr>
              <a:t>LIMITES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6737808" name="Group 2"/>
          <p:cNvGrpSpPr/>
          <p:nvPr/>
        </p:nvGrpSpPr>
        <p:grpSpPr bwMode="auto">
          <a:xfrm rot="0">
            <a:off x="649709" y="1028700"/>
            <a:ext cx="8278861" cy="8032575"/>
            <a:chOff x="0" y="0"/>
            <a:chExt cx="11038481" cy="10710101"/>
          </a:xfrm>
        </p:grpSpPr>
        <p:sp>
          <p:nvSpPr>
            <p:cNvPr id="3" name="AutoShape 3"/>
            <p:cNvSpPr/>
            <p:nvPr/>
          </p:nvSpPr>
          <p:spPr bwMode="auto">
            <a:xfrm>
              <a:off x="483890" y="2311773"/>
              <a:ext cx="845432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 bwMode="auto">
            <a:xfrm rot="0">
              <a:off x="483890" y="28575"/>
              <a:ext cx="9161554" cy="128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10"/>
                </a:lnSpc>
                <a:defRPr/>
              </a:pPr>
              <a:r>
                <a:rPr lang="en-US" sz="6500" b="1" spc="65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METODOLOGÍA</a:t>
              </a:r>
              <a:endParaRPr/>
            </a:p>
          </p:txBody>
        </p:sp>
        <p:sp>
          <p:nvSpPr>
            <p:cNvPr id="5" name="TextBox 5"/>
            <p:cNvSpPr txBox="1"/>
            <p:nvPr/>
          </p:nvSpPr>
          <p:spPr bwMode="auto">
            <a:xfrm rot="0">
              <a:off x="0" y="3847765"/>
              <a:ext cx="11038481" cy="68623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9"/>
                </a:lnSpc>
                <a:defRPr/>
              </a:pPr>
              <a:r>
                <a:rPr lang="en-US" sz="2650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Marco ágil: Scrum puro distribuido </a:t>
              </a: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en 7 sprints quincenales (14 semanas lectivas efectivas). </a:t>
              </a:r>
              <a:endParaRPr/>
            </a:p>
            <a:p>
              <a:pPr algn="l">
                <a:lnSpc>
                  <a:spcPts val="3679"/>
                </a:lnSpc>
                <a:defRPr/>
              </a:pPr>
              <a:endParaRPr lang="en-US" sz="2650" u="none">
                <a:solidFill>
                  <a:srgbClr val="000000"/>
                </a:solidFill>
                <a:latin typeface="Pragmatica"/>
                <a:ea typeface="Pragmatica"/>
                <a:cs typeface="Pragmatica"/>
              </a:endParaRPr>
            </a:p>
            <a:p>
              <a:pPr marL="567400" lvl="1" indent="-283700" algn="l">
                <a:lnSpc>
                  <a:spcPts val="3679"/>
                </a:lnSpc>
                <a:buFont typeface="Arial"/>
                <a:buChar char="•"/>
                <a:defRPr/>
              </a:pP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Sprints 0 al 2: Modelado relacion</a:t>
              </a: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al, gestión b</a:t>
              </a: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ase y MVP funcional de caja operativa. </a:t>
              </a:r>
              <a:endParaRPr/>
            </a:p>
            <a:p>
              <a:pPr marL="567400" lvl="1" indent="-283700" algn="l">
                <a:lnSpc>
                  <a:spcPts val="3679"/>
                </a:lnSpc>
                <a:buFont typeface="Arial"/>
                <a:buChar char="•"/>
                <a:defRPr/>
              </a:pP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Sprints 3 al 5: Motor analítico y sincronización cloud. </a:t>
              </a:r>
              <a:endParaRPr/>
            </a:p>
            <a:p>
              <a:pPr marL="567400" lvl="1" indent="-283700" algn="l">
                <a:lnSpc>
                  <a:spcPts val="3679"/>
                </a:lnSpc>
                <a:buFont typeface="Arial"/>
                <a:buChar char="•"/>
                <a:defRPr/>
              </a:pPr>
              <a:r>
                <a:rPr lang="en-US" sz="2650" u="none">
                  <a:solidFill>
                    <a:srgbClr val="000000"/>
                  </a:solidFill>
                  <a:latin typeface="Pragmatica"/>
                  <a:ea typeface="Pragmatica"/>
                  <a:cs typeface="Pragmatica"/>
                </a:rPr>
                <a:t>Sprints 6 y 7: Dashboard web móvil, testing y validación en terreno. </a:t>
              </a:r>
              <a:endParaRPr/>
            </a:p>
            <a:p>
              <a:pPr algn="l">
                <a:lnSpc>
                  <a:spcPts val="3679"/>
                </a:lnSpc>
                <a:defRPr/>
              </a:pPr>
              <a:endParaRPr lang="en-US" sz="2650" u="none">
                <a:solidFill>
                  <a:srgbClr val="000000"/>
                </a:solidFill>
                <a:latin typeface="Pragmatica"/>
                <a:ea typeface="Pragmatica"/>
                <a:cs typeface="Pragmatica"/>
              </a:endParaRPr>
            </a:p>
            <a:p>
              <a:pPr algn="l">
                <a:lnSpc>
                  <a:spcPts val="4099"/>
                </a:lnSpc>
                <a:defRPr/>
              </a:pPr>
              <a:endParaRPr lang="en-US" sz="2650" u="none">
                <a:solidFill>
                  <a:srgbClr val="000000"/>
                </a:solidFill>
                <a:latin typeface="Pragmatica"/>
                <a:ea typeface="Pragmatica"/>
                <a:cs typeface="Pragmatica"/>
              </a:endParaRPr>
            </a:p>
          </p:txBody>
        </p:sp>
      </p:grpSp>
      <p:grpSp>
        <p:nvGrpSpPr>
          <p:cNvPr id="783935714" name="Group 6"/>
          <p:cNvGrpSpPr/>
          <p:nvPr/>
        </p:nvGrpSpPr>
        <p:grpSpPr bwMode="auto"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fill="norm" stroke="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4816593" cy="29950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/>
            </a:p>
          </p:txBody>
        </p:sp>
      </p:grpSp>
      <p:grpSp>
        <p:nvGrpSpPr>
          <p:cNvPr id="674591704" name="Group 9"/>
          <p:cNvGrpSpPr/>
          <p:nvPr/>
        </p:nvGrpSpPr>
        <p:grpSpPr bwMode="auto">
          <a:xfrm rot="0">
            <a:off x="151935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 bwMode="auto">
            <a:xfrm rot="0">
              <a:off x="562691" y="66593"/>
              <a:ext cx="3563260" cy="3653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65"/>
                </a:lnSpc>
                <a:defRPr/>
              </a:pPr>
              <a:r>
                <a:rPr lang="en-US" sz="1900" b="1" spc="3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POS-Analytics</a:t>
              </a:r>
              <a:endParaRPr/>
            </a:p>
          </p:txBody>
        </p:sp>
        <p:sp>
          <p:nvSpPr>
            <p:cNvPr id="11" name="Freeform 11"/>
            <p:cNvSpPr/>
            <p:nvPr/>
          </p:nvSpPr>
          <p:spPr bwMode="auto">
            <a:xfrm rot="5400000" flipH="0" flipV="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 fill="norm" stroke="1" extrusionOk="0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0"/>
              </a:stretch>
            </a:blipFill>
          </p:spPr>
        </p:sp>
      </p:grpSp>
      <p:sp>
        <p:nvSpPr>
          <p:cNvPr id="705173222" name="Freeform 12"/>
          <p:cNvSpPr/>
          <p:nvPr/>
        </p:nvSpPr>
        <p:spPr bwMode="auto">
          <a:xfrm rot="0" flipH="0" flipV="0">
            <a:off x="9144000" y="2112040"/>
            <a:ext cx="8798843" cy="5865896"/>
          </a:xfrm>
          <a:custGeom>
            <a:avLst/>
            <a:gdLst/>
            <a:ahLst/>
            <a:cxnLst/>
            <a:rect l="l" t="t" r="r" b="b"/>
            <a:pathLst>
              <a:path w="8798843" h="5865896" fill="norm" stroke="1" extrusionOk="0">
                <a:moveTo>
                  <a:pt x="0" y="0"/>
                </a:moveTo>
                <a:lnTo>
                  <a:pt x="8798843" y="0"/>
                </a:lnTo>
                <a:lnTo>
                  <a:pt x="8798843" y="5865896"/>
                </a:lnTo>
                <a:lnTo>
                  <a:pt x="0" y="5865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39954419" name="Group 2"/>
          <p:cNvGrpSpPr/>
          <p:nvPr/>
        </p:nvGrpSpPr>
        <p:grpSpPr bwMode="auto">
          <a:xfrm rot="0">
            <a:off x="1028700" y="1335370"/>
            <a:ext cx="6910589" cy="2326465"/>
            <a:chOff x="0" y="0"/>
            <a:chExt cx="9214119" cy="3101954"/>
          </a:xfrm>
        </p:grpSpPr>
        <p:sp>
          <p:nvSpPr>
            <p:cNvPr id="3" name="TextBox 3"/>
            <p:cNvSpPr txBox="1"/>
            <p:nvPr/>
          </p:nvSpPr>
          <p:spPr bwMode="auto">
            <a:xfrm rot="0">
              <a:off x="0" y="28575"/>
              <a:ext cx="9158373" cy="128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10"/>
                </a:lnSpc>
                <a:defRPr/>
              </a:pPr>
              <a:r>
                <a:rPr lang="en-US" sz="6500" b="1" spc="65">
                  <a:solidFill>
                    <a:srgbClr val="FFFFFF"/>
                  </a:solidFill>
                  <a:latin typeface="Pragmatica Bold"/>
                  <a:ea typeface="Pragmatica Bold"/>
                  <a:cs typeface="Pragmatica Bold"/>
                </a:rPr>
                <a:t>TECNOLOGÍAS</a:t>
              </a:r>
              <a:endParaRPr/>
            </a:p>
          </p:txBody>
        </p:sp>
        <p:sp>
          <p:nvSpPr>
            <p:cNvPr id="4" name="AutoShape 4"/>
            <p:cNvSpPr/>
            <p:nvPr/>
          </p:nvSpPr>
          <p:spPr bwMode="auto">
            <a:xfrm>
              <a:off x="0" y="1939480"/>
              <a:ext cx="9214119" cy="0"/>
            </a:xfrm>
            <a:prstGeom prst="line">
              <a:avLst/>
            </a:prstGeom>
            <a:grpFill/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TextBox 5"/>
            <p:cNvSpPr txBox="1"/>
            <p:nvPr/>
          </p:nvSpPr>
          <p:spPr bwMode="auto">
            <a:xfrm rot="0">
              <a:off x="0" y="2488755"/>
              <a:ext cx="9158373" cy="6131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  <a:defRPr/>
              </a:pPr>
              <a:endParaRPr/>
            </a:p>
          </p:txBody>
        </p:sp>
      </p:grpSp>
      <p:grpSp>
        <p:nvGrpSpPr>
          <p:cNvPr id="533978694" name="Group 6"/>
          <p:cNvGrpSpPr/>
          <p:nvPr/>
        </p:nvGrpSpPr>
        <p:grpSpPr bwMode="auto">
          <a:xfrm rot="0">
            <a:off x="9645001" y="1028700"/>
            <a:ext cx="2959542" cy="867280"/>
            <a:chOff x="0" y="0"/>
            <a:chExt cx="732102" cy="214539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732102" cy="214539"/>
            </a:xfrm>
            <a:custGeom>
              <a:avLst/>
              <a:gdLst/>
              <a:ahLst/>
              <a:cxnLst/>
              <a:rect l="l" t="t" r="r" b="b"/>
              <a:pathLst>
                <a:path w="732102" h="214539" fill="norm" stroke="1" extrusionOk="0">
                  <a:moveTo>
                    <a:pt x="0" y="0"/>
                  </a:moveTo>
                  <a:lnTo>
                    <a:pt x="732102" y="0"/>
                  </a:lnTo>
                  <a:lnTo>
                    <a:pt x="732102" y="214539"/>
                  </a:lnTo>
                  <a:lnTo>
                    <a:pt x="0" y="2145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66675"/>
              <a:ext cx="732102" cy="2812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  <a:defRPr/>
              </a:pPr>
              <a:r>
                <a:rPr lang="en-US" sz="3000" b="1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POS</a:t>
              </a:r>
              <a:endParaRPr/>
            </a:p>
          </p:txBody>
        </p:sp>
      </p:grpSp>
      <p:grpSp>
        <p:nvGrpSpPr>
          <p:cNvPr id="1392897901" name="Group 9"/>
          <p:cNvGrpSpPr/>
          <p:nvPr/>
        </p:nvGrpSpPr>
        <p:grpSpPr bwMode="auto">
          <a:xfrm rot="0">
            <a:off x="9645001" y="3144944"/>
            <a:ext cx="2959542" cy="867280"/>
            <a:chOff x="0" y="0"/>
            <a:chExt cx="732102" cy="214539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732102" cy="214539"/>
            </a:xfrm>
            <a:custGeom>
              <a:avLst/>
              <a:gdLst/>
              <a:ahLst/>
              <a:cxnLst/>
              <a:rect l="l" t="t" r="r" b="b"/>
              <a:pathLst>
                <a:path w="732102" h="214539" fill="norm" stroke="1" extrusionOk="0">
                  <a:moveTo>
                    <a:pt x="0" y="0"/>
                  </a:moveTo>
                  <a:lnTo>
                    <a:pt x="732102" y="0"/>
                  </a:lnTo>
                  <a:lnTo>
                    <a:pt x="732102" y="214539"/>
                  </a:lnTo>
                  <a:lnTo>
                    <a:pt x="0" y="2145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66675"/>
              <a:ext cx="732102" cy="2812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  <a:defRPr/>
              </a:pPr>
              <a:r>
                <a:rPr lang="en-US" sz="3000" b="1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DB</a:t>
              </a:r>
              <a:endParaRPr/>
            </a:p>
          </p:txBody>
        </p:sp>
      </p:grpSp>
      <p:grpSp>
        <p:nvGrpSpPr>
          <p:cNvPr id="333679986" name="Group 12"/>
          <p:cNvGrpSpPr/>
          <p:nvPr/>
        </p:nvGrpSpPr>
        <p:grpSpPr bwMode="auto">
          <a:xfrm rot="0">
            <a:off x="9645001" y="5261188"/>
            <a:ext cx="2959542" cy="867280"/>
            <a:chOff x="0" y="0"/>
            <a:chExt cx="732102" cy="214539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732102" cy="214539"/>
            </a:xfrm>
            <a:custGeom>
              <a:avLst/>
              <a:gdLst/>
              <a:ahLst/>
              <a:cxnLst/>
              <a:rect l="l" t="t" r="r" b="b"/>
              <a:pathLst>
                <a:path w="732102" h="214539" fill="norm" stroke="1" extrusionOk="0">
                  <a:moveTo>
                    <a:pt x="0" y="0"/>
                  </a:moveTo>
                  <a:lnTo>
                    <a:pt x="732102" y="0"/>
                  </a:lnTo>
                  <a:lnTo>
                    <a:pt x="732102" y="214539"/>
                  </a:lnTo>
                  <a:lnTo>
                    <a:pt x="0" y="2145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66675"/>
              <a:ext cx="732102" cy="2812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  <a:defRPr/>
              </a:pPr>
              <a:r>
                <a:rPr lang="en-US" sz="3000" b="1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ANALITICA</a:t>
              </a:r>
              <a:endParaRPr/>
            </a:p>
          </p:txBody>
        </p:sp>
      </p:grpSp>
      <p:grpSp>
        <p:nvGrpSpPr>
          <p:cNvPr id="1820658934" name="Group 15"/>
          <p:cNvGrpSpPr/>
          <p:nvPr/>
        </p:nvGrpSpPr>
        <p:grpSpPr bwMode="auto">
          <a:xfrm rot="0">
            <a:off x="9645001" y="7377433"/>
            <a:ext cx="2959542" cy="867280"/>
            <a:chOff x="0" y="0"/>
            <a:chExt cx="732102" cy="214539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732102" cy="214539"/>
            </a:xfrm>
            <a:custGeom>
              <a:avLst/>
              <a:gdLst/>
              <a:ahLst/>
              <a:cxnLst/>
              <a:rect l="l" t="t" r="r" b="b"/>
              <a:pathLst>
                <a:path w="732102" h="214539" fill="norm" stroke="1" extrusionOk="0">
                  <a:moveTo>
                    <a:pt x="0" y="0"/>
                  </a:moveTo>
                  <a:lnTo>
                    <a:pt x="732102" y="0"/>
                  </a:lnTo>
                  <a:lnTo>
                    <a:pt x="732102" y="214539"/>
                  </a:lnTo>
                  <a:lnTo>
                    <a:pt x="0" y="2145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66675"/>
              <a:ext cx="732102" cy="2812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  <a:defRPr/>
              </a:pPr>
              <a:r>
                <a:rPr lang="en-US" sz="3000" b="1">
                  <a:solidFill>
                    <a:srgbClr val="000000"/>
                  </a:solidFill>
                  <a:latin typeface="Pragmatica Bold"/>
                  <a:ea typeface="Pragmatica Bold"/>
                  <a:cs typeface="Pragmatica Bold"/>
                </a:rPr>
                <a:t>PWA</a:t>
              </a:r>
              <a:endParaRPr/>
            </a:p>
          </p:txBody>
        </p:sp>
      </p:grpSp>
      <p:sp>
        <p:nvSpPr>
          <p:cNvPr id="956679007" name="AutoShape 18"/>
          <p:cNvSpPr/>
          <p:nvPr/>
        </p:nvSpPr>
        <p:spPr bwMode="auto">
          <a:xfrm flipV="1">
            <a:off x="11124772" y="1895980"/>
            <a:ext cx="0" cy="1248965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8076652" name="AutoShape 19"/>
          <p:cNvSpPr/>
          <p:nvPr/>
        </p:nvSpPr>
        <p:spPr bwMode="auto">
          <a:xfrm flipV="1">
            <a:off x="11124772" y="4012224"/>
            <a:ext cx="0" cy="1248965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3950884" name="AutoShape 20"/>
          <p:cNvSpPr/>
          <p:nvPr/>
        </p:nvSpPr>
        <p:spPr bwMode="auto">
          <a:xfrm flipV="1">
            <a:off x="11124772" y="6128468"/>
            <a:ext cx="0" cy="1248965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37381662" name="Group 21"/>
          <p:cNvGrpSpPr/>
          <p:nvPr/>
        </p:nvGrpSpPr>
        <p:grpSpPr bwMode="auto">
          <a:xfrm rot="0">
            <a:off x="-163520" y="9258300"/>
            <a:ext cx="18615039" cy="1396619"/>
            <a:chOff x="0" y="0"/>
            <a:chExt cx="4902726" cy="367834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4902726" cy="367834"/>
            </a:xfrm>
            <a:custGeom>
              <a:avLst/>
              <a:gdLst/>
              <a:ahLst/>
              <a:cxnLst/>
              <a:rect l="l" t="t" r="r" b="b"/>
              <a:pathLst>
                <a:path w="4902726" h="367834" fill="norm" stroke="1" extrusionOk="0">
                  <a:moveTo>
                    <a:pt x="0" y="0"/>
                  </a:moveTo>
                  <a:lnTo>
                    <a:pt x="4902726" y="0"/>
                  </a:lnTo>
                  <a:lnTo>
                    <a:pt x="4902726" y="367834"/>
                  </a:lnTo>
                  <a:lnTo>
                    <a:pt x="0" y="367834"/>
                  </a:lnTo>
                  <a:close/>
                </a:path>
              </a:pathLst>
            </a:custGeom>
            <a:solidFill>
              <a:srgbClr val="000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4902726" cy="3964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/>
            </a:p>
          </p:txBody>
        </p:sp>
      </p:grpSp>
      <p:sp>
        <p:nvSpPr>
          <p:cNvPr id="631111115" name="Freeform 24"/>
          <p:cNvSpPr/>
          <p:nvPr/>
        </p:nvSpPr>
        <p:spPr bwMode="auto">
          <a:xfrm rot="0" flipH="0" flipV="0">
            <a:off x="1204583" y="4740687"/>
            <a:ext cx="1565383" cy="1565383"/>
          </a:xfrm>
          <a:custGeom>
            <a:avLst/>
            <a:gdLst/>
            <a:ahLst/>
            <a:cxnLst/>
            <a:rect l="l" t="t" r="r" b="b"/>
            <a:pathLst>
              <a:path w="1565383" h="1565383" fill="norm" stroke="1" extrusionOk="0">
                <a:moveTo>
                  <a:pt x="0" y="0"/>
                </a:moveTo>
                <a:lnTo>
                  <a:pt x="1565383" y="0"/>
                </a:lnTo>
                <a:lnTo>
                  <a:pt x="1565383" y="1565383"/>
                </a:lnTo>
                <a:lnTo>
                  <a:pt x="0" y="1565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380787252" name="Freeform 25"/>
          <p:cNvSpPr/>
          <p:nvPr/>
        </p:nvSpPr>
        <p:spPr bwMode="auto">
          <a:xfrm rot="0" flipH="0" flipV="0">
            <a:off x="3593553" y="4989068"/>
            <a:ext cx="2257966" cy="2257966"/>
          </a:xfrm>
          <a:custGeom>
            <a:avLst/>
            <a:gdLst/>
            <a:ahLst/>
            <a:cxnLst/>
            <a:rect l="l" t="t" r="r" b="b"/>
            <a:pathLst>
              <a:path w="2257966" h="2257966" fill="norm" stroke="1" extrusionOk="0">
                <a:moveTo>
                  <a:pt x="0" y="0"/>
                </a:moveTo>
                <a:lnTo>
                  <a:pt x="2257966" y="0"/>
                </a:lnTo>
                <a:lnTo>
                  <a:pt x="2257966" y="2257967"/>
                </a:lnTo>
                <a:lnTo>
                  <a:pt x="0" y="22579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70442099" name="Freeform 26"/>
          <p:cNvSpPr/>
          <p:nvPr/>
        </p:nvSpPr>
        <p:spPr bwMode="auto">
          <a:xfrm rot="0" flipH="0" flipV="0">
            <a:off x="2769966" y="3614015"/>
            <a:ext cx="1647173" cy="1647173"/>
          </a:xfrm>
          <a:custGeom>
            <a:avLst/>
            <a:gdLst/>
            <a:ahLst/>
            <a:cxnLst/>
            <a:rect l="l" t="t" r="r" b="b"/>
            <a:pathLst>
              <a:path w="1647173" h="1647173" fill="norm" stroke="1" extrusionOk="0">
                <a:moveTo>
                  <a:pt x="0" y="0"/>
                </a:moveTo>
                <a:lnTo>
                  <a:pt x="1647173" y="0"/>
                </a:lnTo>
                <a:lnTo>
                  <a:pt x="1647173" y="1647174"/>
                </a:lnTo>
                <a:lnTo>
                  <a:pt x="0" y="1647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768931559" name="Freeform 27"/>
          <p:cNvSpPr/>
          <p:nvPr/>
        </p:nvSpPr>
        <p:spPr bwMode="auto">
          <a:xfrm rot="0" flipH="0" flipV="0">
            <a:off x="5361274" y="4235129"/>
            <a:ext cx="2347709" cy="753939"/>
          </a:xfrm>
          <a:custGeom>
            <a:avLst/>
            <a:gdLst/>
            <a:ahLst/>
            <a:cxnLst/>
            <a:rect l="l" t="t" r="r" b="b"/>
            <a:pathLst>
              <a:path w="2347709" h="753939" fill="norm" stroke="1" extrusionOk="0">
                <a:moveTo>
                  <a:pt x="0" y="0"/>
                </a:moveTo>
                <a:lnTo>
                  <a:pt x="2347710" y="0"/>
                </a:lnTo>
                <a:lnTo>
                  <a:pt x="2347710" y="753939"/>
                </a:lnTo>
                <a:lnTo>
                  <a:pt x="0" y="753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10978260" name="Freeform 28"/>
          <p:cNvSpPr/>
          <p:nvPr/>
        </p:nvSpPr>
        <p:spPr bwMode="auto">
          <a:xfrm rot="0" flipH="0" flipV="0">
            <a:off x="5546122" y="5869670"/>
            <a:ext cx="2162861" cy="2162861"/>
          </a:xfrm>
          <a:custGeom>
            <a:avLst/>
            <a:gdLst/>
            <a:ahLst/>
            <a:cxnLst/>
            <a:rect l="l" t="t" r="r" b="b"/>
            <a:pathLst>
              <a:path w="2162861" h="2162861" fill="norm" stroke="1" extrusionOk="0">
                <a:moveTo>
                  <a:pt x="0" y="0"/>
                </a:moveTo>
                <a:lnTo>
                  <a:pt x="2162862" y="0"/>
                </a:lnTo>
                <a:lnTo>
                  <a:pt x="2162862" y="2162861"/>
                </a:lnTo>
                <a:lnTo>
                  <a:pt x="0" y="21628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1611272867" name="Freeform 29"/>
          <p:cNvSpPr/>
          <p:nvPr/>
        </p:nvSpPr>
        <p:spPr bwMode="auto">
          <a:xfrm rot="0" flipH="0" flipV="0">
            <a:off x="1907987" y="6385046"/>
            <a:ext cx="2509153" cy="2509153"/>
          </a:xfrm>
          <a:custGeom>
            <a:avLst/>
            <a:gdLst/>
            <a:ahLst/>
            <a:cxnLst/>
            <a:rect l="l" t="t" r="r" b="b"/>
            <a:pathLst>
              <a:path w="2509153" h="2509153" fill="norm" stroke="1" extrusionOk="0">
                <a:moveTo>
                  <a:pt x="0" y="0"/>
                </a:moveTo>
                <a:lnTo>
                  <a:pt x="2509152" y="0"/>
                </a:lnTo>
                <a:lnTo>
                  <a:pt x="2509152" y="2509153"/>
                </a:lnTo>
                <a:lnTo>
                  <a:pt x="0" y="2509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</p:sp>
      <p:sp>
        <p:nvSpPr>
          <p:cNvPr id="435065207" name="TextBox 30"/>
          <p:cNvSpPr txBox="1"/>
          <p:nvPr/>
        </p:nvSpPr>
        <p:spPr bwMode="auto">
          <a:xfrm rot="0">
            <a:off x="13643807" y="7459029"/>
            <a:ext cx="3682168" cy="361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  <a:defRPr/>
            </a:pPr>
            <a:r>
              <a:rPr lang="en-US" sz="2400" spc="23">
                <a:solidFill>
                  <a:srgbClr val="FFFFFF"/>
                </a:solidFill>
                <a:latin typeface="TT Interphases"/>
                <a:ea typeface="TT Interphases"/>
                <a:cs typeface="TT Interphases"/>
              </a:rPr>
              <a:t>N</a:t>
            </a:r>
            <a:r>
              <a:rPr lang="en-US" sz="2400" spc="23">
                <a:solidFill>
                  <a:srgbClr val="FFFFFF"/>
                </a:solidFill>
                <a:latin typeface="TT Interphases"/>
                <a:ea typeface="TT Interphases"/>
                <a:cs typeface="TT Interphases"/>
              </a:rPr>
              <a:t>ext.js</a:t>
            </a:r>
            <a:endParaRPr/>
          </a:p>
        </p:txBody>
      </p:sp>
      <p:sp>
        <p:nvSpPr>
          <p:cNvPr id="1874080615" name="TextBox 31"/>
          <p:cNvSpPr txBox="1"/>
          <p:nvPr/>
        </p:nvSpPr>
        <p:spPr bwMode="auto">
          <a:xfrm rot="0">
            <a:off x="13643807" y="5342784"/>
            <a:ext cx="3682168" cy="361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  <a:defRPr/>
            </a:pPr>
            <a:r>
              <a:rPr lang="en-US" sz="2400" spc="23">
                <a:solidFill>
                  <a:srgbClr val="FFFFFF"/>
                </a:solidFill>
                <a:latin typeface="TT Interphases"/>
                <a:ea typeface="TT Interphases"/>
                <a:cs typeface="TT Interphases"/>
              </a:rPr>
              <a:t>N</a:t>
            </a:r>
            <a:r>
              <a:rPr lang="en-US" sz="2400" spc="23">
                <a:solidFill>
                  <a:srgbClr val="FFFFFF"/>
                </a:solidFill>
                <a:latin typeface="TT Interphases"/>
                <a:ea typeface="TT Interphases"/>
                <a:cs typeface="TT Interphases"/>
              </a:rPr>
              <a:t>ode.js, TypeScript</a:t>
            </a:r>
            <a:endParaRPr/>
          </a:p>
        </p:txBody>
      </p:sp>
      <p:sp>
        <p:nvSpPr>
          <p:cNvPr id="134831568" name="TextBox 32"/>
          <p:cNvSpPr txBox="1"/>
          <p:nvPr/>
        </p:nvSpPr>
        <p:spPr bwMode="auto">
          <a:xfrm rot="0">
            <a:off x="13643807" y="3226540"/>
            <a:ext cx="3682168" cy="361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  <a:defRPr/>
            </a:pPr>
            <a:r>
              <a:rPr lang="en-US" sz="2400" spc="23">
                <a:solidFill>
                  <a:srgbClr val="FFFFFF"/>
                </a:solidFill>
                <a:latin typeface="TT Interphases"/>
                <a:ea typeface="TT Interphases"/>
                <a:cs typeface="TT Interphases"/>
              </a:rPr>
              <a:t>SQL</a:t>
            </a:r>
            <a:r>
              <a:rPr lang="en-US" sz="2400" spc="23">
                <a:solidFill>
                  <a:srgbClr val="FFFFFF"/>
                </a:solidFill>
                <a:latin typeface="TT Interphases"/>
                <a:ea typeface="TT Interphases"/>
                <a:cs typeface="TT Interphases"/>
              </a:rPr>
              <a:t>ite, PostgreSQL</a:t>
            </a:r>
            <a:endParaRPr/>
          </a:p>
        </p:txBody>
      </p:sp>
      <p:sp>
        <p:nvSpPr>
          <p:cNvPr id="1044116865" name="TextBox 33"/>
          <p:cNvSpPr txBox="1"/>
          <p:nvPr/>
        </p:nvSpPr>
        <p:spPr bwMode="auto">
          <a:xfrm rot="0">
            <a:off x="13643807" y="1110296"/>
            <a:ext cx="3682168" cy="70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  <a:defRPr/>
            </a:pPr>
            <a:r>
              <a:rPr lang="en-US" sz="2400" spc="23">
                <a:solidFill>
                  <a:srgbClr val="FFFFFF"/>
                </a:solidFill>
                <a:latin typeface="TT Interphases"/>
                <a:ea typeface="TT Interphases"/>
                <a:cs typeface="TT Interphases"/>
              </a:rPr>
              <a:t>Electron, React.js, TypeScript,</a:t>
            </a:r>
            <a:endParaRPr/>
          </a:p>
        </p:txBody>
      </p:sp>
      <p:grpSp>
        <p:nvGrpSpPr>
          <p:cNvPr id="214549068" name="Group 34"/>
          <p:cNvGrpSpPr/>
          <p:nvPr/>
        </p:nvGrpSpPr>
        <p:grpSpPr bwMode="auto">
          <a:xfrm rot="0">
            <a:off x="15193537" y="9589260"/>
            <a:ext cx="3094463" cy="366780"/>
            <a:chOff x="0" y="0"/>
            <a:chExt cx="4125951" cy="489041"/>
          </a:xfrm>
        </p:grpSpPr>
        <p:sp>
          <p:nvSpPr>
            <p:cNvPr id="35" name="TextBox 35"/>
            <p:cNvSpPr txBox="1"/>
            <p:nvPr/>
          </p:nvSpPr>
          <p:spPr bwMode="auto">
            <a:xfrm rot="0">
              <a:off x="562691" y="66593"/>
              <a:ext cx="3563260" cy="3653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65"/>
                </a:lnSpc>
                <a:defRPr/>
              </a:pPr>
              <a:r>
                <a:rPr lang="en-US" sz="1900" b="1" spc="3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POS-Analytics</a:t>
              </a:r>
              <a:endParaRPr/>
            </a:p>
          </p:txBody>
        </p:sp>
        <p:sp>
          <p:nvSpPr>
            <p:cNvPr id="36" name="Freeform 36"/>
            <p:cNvSpPr/>
            <p:nvPr/>
          </p:nvSpPr>
          <p:spPr bwMode="auto">
            <a:xfrm rot="5400000" flipH="0" flipV="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 fill="norm" stroke="1" extrusionOk="0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385431" name="AutoShape 2"/>
          <p:cNvSpPr/>
          <p:nvPr/>
        </p:nvSpPr>
        <p:spPr bwMode="auto">
          <a:xfrm rot="0">
            <a:off x="1028700" y="2984242"/>
            <a:ext cx="162306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3446846" name="Group 3"/>
          <p:cNvGrpSpPr/>
          <p:nvPr/>
        </p:nvGrpSpPr>
        <p:grpSpPr bwMode="auto"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fill="norm" stroke="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4816593" cy="29950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/>
            </a:p>
          </p:txBody>
        </p:sp>
      </p:grpSp>
      <p:sp>
        <p:nvSpPr>
          <p:cNvPr id="493129890" name="Freeform 6"/>
          <p:cNvSpPr/>
          <p:nvPr/>
        </p:nvSpPr>
        <p:spPr bwMode="auto">
          <a:xfrm rot="0" flipH="0" flipV="0">
            <a:off x="1028700" y="3846916"/>
            <a:ext cx="16230600" cy="3070289"/>
          </a:xfrm>
          <a:custGeom>
            <a:avLst/>
            <a:gdLst/>
            <a:ahLst/>
            <a:cxnLst/>
            <a:rect l="l" t="t" r="r" b="b"/>
            <a:pathLst>
              <a:path w="16230600" h="3070289" fill="norm" stroke="1" extrusionOk="0">
                <a:moveTo>
                  <a:pt x="0" y="0"/>
                </a:moveTo>
                <a:lnTo>
                  <a:pt x="16230600" y="0"/>
                </a:lnTo>
                <a:lnTo>
                  <a:pt x="16230600" y="3070288"/>
                </a:lnTo>
                <a:lnTo>
                  <a:pt x="0" y="3070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016163308" name="TextBox 7"/>
          <p:cNvSpPr txBox="1"/>
          <p:nvPr/>
        </p:nvSpPr>
        <p:spPr bwMode="auto">
          <a:xfrm rot="0">
            <a:off x="1028700" y="1363945"/>
            <a:ext cx="12420299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10"/>
              </a:lnSpc>
              <a:defRPr/>
            </a:pPr>
            <a:r>
              <a:rPr lang="en-US" sz="6500" b="1" spc="65">
                <a:solidFill>
                  <a:srgbClr val="000000"/>
                </a:solidFill>
                <a:latin typeface="Pragmatica Bold"/>
                <a:ea typeface="Pragmatica Bold"/>
                <a:cs typeface="Pragmatica Bold"/>
              </a:rPr>
              <a:t>CRONOGRAMA</a:t>
            </a:r>
            <a:endParaRPr/>
          </a:p>
        </p:txBody>
      </p:sp>
      <p:sp>
        <p:nvSpPr>
          <p:cNvPr id="261105743" name="TextBox 8"/>
          <p:cNvSpPr txBox="1"/>
          <p:nvPr/>
        </p:nvSpPr>
        <p:spPr bwMode="auto">
          <a:xfrm rot="0">
            <a:off x="13448999" y="1287745"/>
            <a:ext cx="3810301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defRPr/>
            </a:pPr>
            <a:r>
              <a:rPr lang="en-US" sz="2800">
                <a:solidFill>
                  <a:srgbClr val="000000"/>
                </a:solidFill>
                <a:latin typeface="Pragmatica"/>
                <a:ea typeface="Pragmatica"/>
                <a:cs typeface="Pragmatica"/>
              </a:rPr>
              <a:t>sprints</a:t>
            </a:r>
            <a:endParaRPr/>
          </a:p>
        </p:txBody>
      </p:sp>
      <p:grpSp>
        <p:nvGrpSpPr>
          <p:cNvPr id="964109484" name="Group 9"/>
          <p:cNvGrpSpPr/>
          <p:nvPr/>
        </p:nvGrpSpPr>
        <p:grpSpPr bwMode="auto">
          <a:xfrm rot="0">
            <a:off x="151935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 bwMode="auto">
            <a:xfrm rot="0">
              <a:off x="562691" y="66593"/>
              <a:ext cx="3563260" cy="3653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65"/>
                </a:lnSpc>
                <a:defRPr/>
              </a:pPr>
              <a:r>
                <a:rPr lang="en-US" sz="1900" b="1" spc="3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</a:rPr>
                <a:t>POS-Analytics</a:t>
              </a:r>
              <a:endParaRPr/>
            </a:p>
          </p:txBody>
        </p:sp>
        <p:sp>
          <p:nvSpPr>
            <p:cNvPr id="11" name="Freeform 11"/>
            <p:cNvSpPr/>
            <p:nvPr/>
          </p:nvSpPr>
          <p:spPr bwMode="auto">
            <a:xfrm rot="5400000" flipH="0" flipV="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 fill="norm" stroke="1" extrusionOk="0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6336483" name="Group 2"/>
          <p:cNvGrpSpPr/>
          <p:nvPr/>
        </p:nvGrpSpPr>
        <p:grpSpPr bwMode="auto">
          <a:xfrm rot="0">
            <a:off x="1028700" y="1649271"/>
            <a:ext cx="7291728" cy="1449276"/>
            <a:chOff x="0" y="0"/>
            <a:chExt cx="9722303" cy="1932368"/>
          </a:xfrm>
        </p:grpSpPr>
        <p:sp>
          <p:nvSpPr>
            <p:cNvPr id="3" name="TextBox 3"/>
            <p:cNvSpPr txBox="1"/>
            <p:nvPr/>
          </p:nvSpPr>
          <p:spPr bwMode="auto">
            <a:xfrm rot="0">
              <a:off x="0" y="28575"/>
              <a:ext cx="9722303" cy="128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10"/>
                </a:lnSpc>
                <a:defRPr/>
              </a:pPr>
              <a:r>
                <a:rPr lang="en-US" sz="6500" b="1" spc="65">
                  <a:solidFill>
                    <a:srgbClr val="FFFFFF"/>
                  </a:solidFill>
                  <a:latin typeface="Pragmatica Bold"/>
                  <a:ea typeface="Pragmatica Bold"/>
                  <a:cs typeface="Pragmatica Bold"/>
                </a:rPr>
                <a:t>CONCLUSIÓN</a:t>
              </a:r>
              <a:endParaRPr/>
            </a:p>
          </p:txBody>
        </p:sp>
        <p:sp>
          <p:nvSpPr>
            <p:cNvPr id="4" name="AutoShape 4"/>
            <p:cNvSpPr/>
            <p:nvPr/>
          </p:nvSpPr>
          <p:spPr bwMode="auto">
            <a:xfrm>
              <a:off x="0" y="1913318"/>
              <a:ext cx="9722303" cy="0"/>
            </a:xfrm>
            <a:prstGeom prst="line">
              <a:avLst/>
            </a:prstGeom>
            <a:grpFill/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009212217" name="Group 5"/>
          <p:cNvGrpSpPr/>
          <p:nvPr/>
        </p:nvGrpSpPr>
        <p:grpSpPr bwMode="auto">
          <a:xfrm rot="0">
            <a:off x="10898520" y="0"/>
            <a:ext cx="7389480" cy="5465355"/>
            <a:chOff x="0" y="0"/>
            <a:chExt cx="9852641" cy="728713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 rotWithShape="1">
            <a:blip r:embed="rId3"/>
            <a:srcRect l="4931" t="0" r="4930" b="0"/>
            <a:stretch/>
          </p:blipFill>
          <p:spPr bwMode="auto">
            <a:xfrm flipH="0" flipV="0">
              <a:off x="0" y="0"/>
              <a:ext cx="9852641" cy="7287139"/>
            </a:xfrm>
            <a:prstGeom prst="rect">
              <a:avLst/>
            </a:prstGeom>
          </p:spPr>
        </p:pic>
      </p:grpSp>
      <p:grpSp>
        <p:nvGrpSpPr>
          <p:cNvPr id="1122394233" name="Group 7"/>
          <p:cNvGrpSpPr/>
          <p:nvPr/>
        </p:nvGrpSpPr>
        <p:grpSpPr bwMode="auto">
          <a:xfrm rot="0">
            <a:off x="0" y="5980554"/>
            <a:ext cx="10304736" cy="4306446"/>
            <a:chOff x="0" y="0"/>
            <a:chExt cx="13739649" cy="5741928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 rotWithShape="1">
            <a:blip r:embed="rId4"/>
            <a:srcRect l="0" t="9960" r="0" b="9960"/>
            <a:stretch/>
          </p:blipFill>
          <p:spPr bwMode="auto">
            <a:xfrm flipH="0" flipV="0">
              <a:off x="0" y="0"/>
              <a:ext cx="13739649" cy="5741928"/>
            </a:xfrm>
            <a:prstGeom prst="rect">
              <a:avLst/>
            </a:prstGeom>
          </p:spPr>
        </p:pic>
      </p:grpSp>
      <p:grpSp>
        <p:nvGrpSpPr>
          <p:cNvPr id="1829323566" name="Group 9"/>
          <p:cNvGrpSpPr/>
          <p:nvPr/>
        </p:nvGrpSpPr>
        <p:grpSpPr bwMode="auto">
          <a:xfrm rot="0">
            <a:off x="10898520" y="5980554"/>
            <a:ext cx="7389480" cy="4306446"/>
            <a:chOff x="0" y="0"/>
            <a:chExt cx="9852641" cy="574192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 rotWithShape="1">
            <a:blip r:embed="rId5"/>
            <a:srcRect l="0" t="6291" r="0" b="6290"/>
            <a:stretch/>
          </p:blipFill>
          <p:spPr bwMode="auto">
            <a:xfrm flipH="0" flipV="0">
              <a:off x="0" y="0"/>
              <a:ext cx="9852641" cy="574192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72357437" name="Group 2"/>
          <p:cNvGrpSpPr/>
          <p:nvPr/>
        </p:nvGrpSpPr>
        <p:grpSpPr bwMode="auto">
          <a:xfrm rot="0">
            <a:off x="0" y="0"/>
            <a:ext cx="18288000" cy="3670604"/>
            <a:chOff x="0" y="0"/>
            <a:chExt cx="24384000" cy="489413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3"/>
            <a:srcRect l="0" t="33044" r="0" b="33044"/>
            <a:stretch/>
          </p:blipFill>
          <p:spPr bwMode="auto">
            <a:xfrm flipH="0" flipV="0">
              <a:off x="0" y="0"/>
              <a:ext cx="24384000" cy="4894138"/>
            </a:xfrm>
            <a:prstGeom prst="rect">
              <a:avLst/>
            </a:prstGeom>
          </p:spPr>
        </p:pic>
      </p:grpSp>
      <p:grpSp>
        <p:nvGrpSpPr>
          <p:cNvPr id="1942498288" name="Group 4"/>
          <p:cNvGrpSpPr/>
          <p:nvPr/>
        </p:nvGrpSpPr>
        <p:grpSpPr bwMode="auto">
          <a:xfrm rot="0">
            <a:off x="6477616" y="5951655"/>
            <a:ext cx="7812715" cy="1407163"/>
            <a:chOff x="0" y="0"/>
            <a:chExt cx="10416953" cy="1876218"/>
          </a:xfrm>
        </p:grpSpPr>
        <p:sp>
          <p:nvSpPr>
            <p:cNvPr id="5" name="TextBox 5"/>
            <p:cNvSpPr txBox="1"/>
            <p:nvPr/>
          </p:nvSpPr>
          <p:spPr bwMode="auto">
            <a:xfrm rot="0">
              <a:off x="0" y="28575"/>
              <a:ext cx="10416953" cy="128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10"/>
                </a:lnSpc>
                <a:defRPr/>
              </a:pPr>
              <a:r>
                <a:rPr lang="en-US" sz="6500" b="1" spc="65">
                  <a:solidFill>
                    <a:srgbClr val="FFFFFF"/>
                  </a:solidFill>
                  <a:latin typeface="Pragmatica Bold"/>
                  <a:ea typeface="Pragmatica Bold"/>
                  <a:cs typeface="Pragmatica Bold"/>
                </a:rPr>
                <a:t>PREGUNTAS</a:t>
              </a:r>
              <a:endParaRPr/>
            </a:p>
          </p:txBody>
        </p:sp>
        <p:sp>
          <p:nvSpPr>
            <p:cNvPr id="6" name="AutoShape 6"/>
            <p:cNvSpPr/>
            <p:nvPr/>
          </p:nvSpPr>
          <p:spPr bwMode="auto">
            <a:xfrm>
              <a:off x="0" y="1850818"/>
              <a:ext cx="10416953" cy="0"/>
            </a:xfrm>
            <a:prstGeom prst="line">
              <a:avLst/>
            </a:prstGeom>
            <a:grpFill/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Negro y Blanco Corporativo Simple y Oscuro Propuesta de Proyecto Presentación de negocios</dc:title>
  <dc:identifier>DAHUm_BDHqY</dc:identifier>
  <cp:lastModifiedBy/>
  <cp:revision>2</cp:revision>
  <dcterms:created xsi:type="dcterms:W3CDTF">2006-08-16T00:00:00Z</dcterms:created>
  <dcterms:modified xsi:type="dcterms:W3CDTF">2026-09-10T14:24:52Z</dcterms:modified>
</cp:coreProperties>
</file>